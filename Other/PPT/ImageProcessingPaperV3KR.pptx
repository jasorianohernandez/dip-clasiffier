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344" r:id="rId5"/>
    <p:sldId id="378" r:id="rId6"/>
    <p:sldId id="357" r:id="rId7"/>
    <p:sldId id="363" r:id="rId8"/>
    <p:sldId id="376" r:id="rId9"/>
    <p:sldId id="380" r:id="rId10"/>
    <p:sldId id="379" r:id="rId11"/>
    <p:sldId id="377" r:id="rId12"/>
    <p:sldId id="359" r:id="rId13"/>
    <p:sldId id="366" r:id="rId14"/>
    <p:sldId id="360" r:id="rId15"/>
    <p:sldId id="381" r:id="rId16"/>
    <p:sldId id="369" r:id="rId17"/>
    <p:sldId id="372" r:id="rId18"/>
    <p:sldId id="371" r:id="rId19"/>
    <p:sldId id="361" r:id="rId20"/>
    <p:sldId id="364" r:id="rId21"/>
    <p:sldId id="374" r:id="rId22"/>
    <p:sldId id="362" r:id="rId23"/>
    <p:sldId id="375" r:id="rId24"/>
    <p:sldId id="35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A3D024-909B-3BC2-1496-FEEAB652808A}" name="Sher Dionisio" initials="" userId="S::Sher.Dionisio@teksystemsgs.com::02daa716-9709-4d47-a153-1943ce1675c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29"/>
    <a:srgbClr val="2331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928" autoAdjust="0"/>
  </p:normalViewPr>
  <p:slideViewPr>
    <p:cSldViewPr snapToGrid="0">
      <p:cViewPr>
        <p:scale>
          <a:sx n="112" d="100"/>
          <a:sy n="112" d="100"/>
        </p:scale>
        <p:origin x="552" y="60"/>
      </p:cViewPr>
      <p:guideLst>
        <p:guide orient="horz" pos="175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0109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'Household Estimates'!$D$1</c:f>
              <c:strCache>
                <c:ptCount val="1"/>
                <c:pt idx="0">
                  <c:v>HOUSEHOLD ESTIMATE (KG/ CAPITA/YEAR)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5DB-4BAC-898D-35CDE12D09CF}"/>
              </c:ext>
            </c:extLst>
          </c:dPt>
          <c:cat>
            <c:strRef>
              <c:f>('Household Estimates'!$C$18,'Household Estimates'!$C$39,'Household Estimates'!$C$43,'Household Estimates'!$C$59,'Household Estimates'!$C$159,'Household Estimates'!$C$178,'Household Estimates'!$C$180,'Household Estimates'!$C$189)</c:f>
              <c:strCache>
                <c:ptCount val="8"/>
                <c:pt idx="0">
                  <c:v>Switzerland</c:v>
                </c:pt>
                <c:pt idx="1">
                  <c:v>United Arab Emirates</c:v>
                </c:pt>
                <c:pt idx="2">
                  <c:v>Republic of Korea</c:v>
                </c:pt>
                <c:pt idx="3">
                  <c:v>Qatar</c:v>
                </c:pt>
                <c:pt idx="4">
                  <c:v>Bangladesh</c:v>
                </c:pt>
                <c:pt idx="5">
                  <c:v>Germany</c:v>
                </c:pt>
                <c:pt idx="6">
                  <c:v>China</c:v>
                </c:pt>
                <c:pt idx="7">
                  <c:v>United States of America</c:v>
                </c:pt>
              </c:strCache>
              <c:extLst/>
            </c:strRef>
          </c:cat>
          <c:val>
            <c:numRef>
              <c:f>('Household Estimates'!$D$18,'Household Estimates'!$D$39,'Household Estimates'!$D$43,'Household Estimates'!$D$59,'Household Estimates'!$D$159,'Household Estimates'!$D$178,'Household Estimates'!$D$180,'Household Estimates'!$D$189)</c:f>
              <c:numCache>
                <c:formatCode>General</c:formatCode>
                <c:ptCount val="8"/>
                <c:pt idx="0">
                  <c:v>119</c:v>
                </c:pt>
                <c:pt idx="1">
                  <c:v>99</c:v>
                </c:pt>
                <c:pt idx="2">
                  <c:v>95</c:v>
                </c:pt>
                <c:pt idx="3">
                  <c:v>93</c:v>
                </c:pt>
                <c:pt idx="4">
                  <c:v>82</c:v>
                </c:pt>
                <c:pt idx="5">
                  <c:v>78</c:v>
                </c:pt>
                <c:pt idx="6">
                  <c:v>76</c:v>
                </c:pt>
                <c:pt idx="7">
                  <c:v>73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C5DB-4BAC-898D-35CDE12D09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00385487"/>
        <c:axId val="1900386447"/>
      </c:barChart>
      <c:catAx>
        <c:axId val="190038548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0386447"/>
        <c:crosses val="autoZero"/>
        <c:auto val="1"/>
        <c:lblAlgn val="ctr"/>
        <c:lblOffset val="100"/>
        <c:noMultiLvlLbl val="0"/>
      </c:catAx>
      <c:valAx>
        <c:axId val="19003864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0385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B440F78-2C9E-4C7F-818C-B40BB19D3A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D3FB98-80B9-4155-809A-82659D34A0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18EB1-FF96-47AA-9A30-F1BFF2FFD1F7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DEF847-3492-4888-9C23-1504238536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48C54-2332-4748-9C65-6A27E550C1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75FB2-D12E-4669-8522-D3E2C7E6DC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991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4A361-7934-4769-9B16-8A939698742C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8E0B9-48E4-499D-93B2-B07D00395B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043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29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04B7E-ADEF-7A55-66E3-7C5484037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13196A-ED2A-865B-313D-AEBAD6D76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54038B-72B6-3C49-CF5B-C0B3C575E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190CD-B1E3-EE85-22DC-435E8BB3C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029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5712C-BF70-D884-409D-C63B0F28C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7E4F08-1192-5921-72CF-66E20A537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CA5E00-51FE-6B86-0EC0-240B6CEBB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02EDE-0F0F-8D9C-4692-FC272E022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22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6AD8E-1F15-9E0C-A21D-5F624DBEC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A29802-3FD3-FBF7-D1A9-6C4E9BBC4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88D821-5781-5E7D-C903-E6FBE4F4B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C098C-9D69-D0E1-1686-6B3EE14C1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9897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3E677-CFDB-93FD-C99C-4EA1EB978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4C92CC-ABBA-B221-249D-091C9B3C8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D68A28-053A-DD03-402E-427C2FA401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49590-C68B-22C8-F6E7-9ACEAA3BF3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585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B2EDF-DC8A-CA08-7F36-B333DCCF2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80F82-791A-F6E4-0983-D5416886C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857F29-3304-BAF3-B5BB-BD89602D7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C215A-E5B6-1E70-1E91-1A6C3C2B80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935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8A603-7C33-DCAF-5FCD-A081B75B0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4FC3D5-F4AD-9BB7-88EF-2F0CEEF8F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920635-CF44-753F-F2E3-67DC43C99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7130D-1E9D-1DBA-C04B-6407E5CB31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290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DCEA4-9437-7B7A-9952-06F663F80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37B613-2C87-3659-BCAF-06AEBEBCB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A6DBA6-1E2B-1FCD-23D0-446D919F1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680B8-17C1-6174-7601-8CB2808D89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8904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C3077-7B60-A337-CFD1-F4DF5D76B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91BF5D-59DD-DD82-5BC6-F7EC7833F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136A7F-FADE-C324-EC48-709167498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D1142-0943-225F-EA5D-B70CED6A2C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6123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30C60-D2FC-EB93-3276-69441EC47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7A5C4-689E-C0AA-EE49-0A31EF7767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62E74-64E9-85E4-A172-59DFFA376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3F95E-C725-3C9E-DEE2-F30C95961F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013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BF7A7-24A6-E4B6-3443-6795FDA1B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1AA07E-6B13-8E94-3827-8F04DAA5D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63A92-4AAD-DF8A-3E43-BB6F21CBA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74739-EAF0-E1F4-B74C-EDF433DF7B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267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4AB4A-105D-758A-29F6-C7CAB5352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E8A8EE-34BC-625E-A28B-5DBA927DFD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E9C69-708B-A855-A63F-2D6921EE7C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12392-4B21-032C-BC58-91E0863D3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8925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C6138-C45C-ED5F-2F2A-ED5DA2D2A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3E2CB5-1D67-D801-B00B-2C18ED3B5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A448B-B695-F43F-7610-734F6F5D7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AF7C6-47D5-4A56-5735-0C4F5285D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1608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9D364-6E14-18C7-A566-A628EDA9A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DE314-A0A6-2C4C-BFA9-F3115FD484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597F3D-BA82-2B08-2E85-5D95C90A5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DBC12-1E1D-99B5-C5FE-9A2E7D30BB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1168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986FD-08A8-0EFF-33C9-950A9FA44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A43D1F-A344-76DF-88FD-8C9A82624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B3C5E0-7751-2EC1-4DDE-6010F6E71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095E4-01CB-1A58-F09E-C037175F2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7677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EF06C-BDB0-9CFC-4031-AFFD69CBD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759D62-B27C-B69D-3154-0248C31264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B8FE2E-9AD9-38A6-192B-0EB5EBEA5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F29F0-B2B7-DCBC-7D9B-74E5F810FA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2513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BBA67-7FBF-7E3A-CAEC-EC29504D3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6E1B3B-12A2-182C-EE58-D8517E33CD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7F9ADE-4594-B409-FF7B-15D2C45E7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AC24A-5CB8-31BF-0F99-740E5E02B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4309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7F79B-8652-8AEF-F132-D91C22ADD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5E59F-14AD-59A2-1EE0-A39EC06B3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CFBCC0-B315-A5FB-45D6-8D26952CE5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D57AFF-9B0B-C6B4-436A-7A8471F8EA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6205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96312-05E5-C12B-E16B-FA5E131D4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3A0E4B-2067-88DD-7736-2A6D7FA3AE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D36B6C-0BE3-3998-5301-FF94D7096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DD7D9-8C9B-6EBC-2B33-66738F939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9722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F087E-6139-DA34-334F-04CADC4A9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9A4BAA-6A32-5009-9BFD-0569364E9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678233-B828-34FC-8B5D-F03A8FC54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E8F85-AD06-C3DC-1863-A88B9B1ECE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5921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878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A39D92-9919-A80E-44FF-6B912E85073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8788" y="457200"/>
            <a:ext cx="11274425" cy="5943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62FF34D-C8F8-1796-647D-D17056A27E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1955" y="612475"/>
            <a:ext cx="4701904" cy="3079029"/>
          </a:xfrm>
        </p:spPr>
        <p:txBody>
          <a:bodyPr anchor="b">
            <a:normAutofit/>
          </a:bodyPr>
          <a:lstStyle>
            <a:lvl1pPr algn="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07688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C229E2-8757-94D8-A1B6-702189DCC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3249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77143C8-CDFF-B937-C00C-5E7B509399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83920"/>
            <a:ext cx="4114800" cy="50596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82637A1-1BB4-AF51-24C3-6FE78DD45D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438400"/>
            <a:ext cx="4799012" cy="3505200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/>
            </a:lvl1pPr>
            <a:lvl2pPr marL="457200" indent="0">
              <a:lnSpc>
                <a:spcPct val="125000"/>
              </a:lnSpc>
              <a:buNone/>
              <a:defRPr sz="1600"/>
            </a:lvl2pPr>
            <a:lvl3pPr marL="914400" indent="0">
              <a:lnSpc>
                <a:spcPct val="125000"/>
              </a:lnSpc>
              <a:buNone/>
              <a:defRPr sz="1400"/>
            </a:lvl3pPr>
            <a:lvl4pPr marL="1371600" indent="0">
              <a:lnSpc>
                <a:spcPct val="125000"/>
              </a:lnSpc>
              <a:buNone/>
              <a:defRPr sz="1200"/>
            </a:lvl4pPr>
            <a:lvl5pPr marL="1828800" indent="0">
              <a:lnSpc>
                <a:spcPct val="125000"/>
              </a:lnSpc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56F59DF2-AB3C-B7B3-826A-636B8CC5AB3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68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737016-0B2B-9F81-7A77-63223C486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34E572-08FE-0439-A460-8DFE1183A6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8742" y="914399"/>
            <a:ext cx="4798858" cy="502919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1EB46EC-087C-B8FF-2363-B99FAE983B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5713413" cy="50292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2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1D49246-C641-C3BA-F07B-89FFC6CDA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853439"/>
            <a:ext cx="4802373" cy="2833689"/>
          </a:xfrm>
        </p:spPr>
        <p:txBody>
          <a:bodyPr rIns="914400" anchor="b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BE7E1DF-A70C-8F79-9B76-72B2A7B4DC7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931919"/>
            <a:ext cx="4802735" cy="207264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CD5F637-DFBF-7FED-7CD5-F46A26E5CD1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33E3B934-3E16-21AF-8F5A-9EFD93255705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05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D872928-B479-F7C5-9C83-C448FBA36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20445"/>
            <a:ext cx="4114800" cy="50292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61E3771A-E1EB-0CBE-828C-2C5E1F2AE6C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475227" y="1020445"/>
            <a:ext cx="4802735" cy="5029200"/>
          </a:xfrm>
        </p:spPr>
        <p:txBody>
          <a:bodyPr anchor="ctr">
            <a:normAutofit/>
          </a:bodyPr>
          <a:lstStyle>
            <a:lvl1pPr marL="22860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lvl1pPr>
            <a:lvl2pPr marL="41148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/>
            </a:lvl2pPr>
            <a:lvl3pPr marL="59436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/>
            </a:lvl3pPr>
            <a:lvl4pPr marL="77724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/>
            </a:lvl4pPr>
            <a:lvl5pPr marL="96012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A1635D-96F0-769B-4ECB-70502770A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4F877767-0342-A344-0462-A0D877FF68F8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152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21F215D-0D9E-64B3-1F66-E90B87932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00741"/>
            <a:ext cx="4802372" cy="278891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E86A4459-11C2-44C6-0173-C666D5AADC1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825239"/>
            <a:ext cx="4802735" cy="207264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84EF14-0982-D931-9DD6-ECFE61D5B0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7D7E927E-4F73-5579-4F1D-E13899DEEA0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067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0" y="2153285"/>
            <a:ext cx="4953001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09360" y="2153285"/>
            <a:ext cx="5135880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55D7E8F5-692D-24DD-0F8C-9563BA74AAF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43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1" y="2153285"/>
            <a:ext cx="3261359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 b="1"/>
            </a:lvl1pPr>
            <a:lvl2pPr>
              <a:spcBef>
                <a:spcPts val="1000"/>
              </a:spcBef>
              <a:spcAft>
                <a:spcPts val="1200"/>
              </a:spcAft>
              <a:defRPr sz="1600" b="1"/>
            </a:lvl2pPr>
            <a:lvl3pPr>
              <a:spcBef>
                <a:spcPts val="1000"/>
              </a:spcBef>
              <a:spcAft>
                <a:spcPts val="1200"/>
              </a:spcAft>
              <a:defRPr sz="1400" b="1"/>
            </a:lvl3pPr>
            <a:lvl4pPr>
              <a:spcBef>
                <a:spcPts val="1000"/>
              </a:spcBef>
              <a:spcAft>
                <a:spcPts val="1200"/>
              </a:spcAft>
              <a:defRPr sz="1200" b="1"/>
            </a:lvl4pPr>
            <a:lvl5pPr>
              <a:spcBef>
                <a:spcPts val="1000"/>
              </a:spcBef>
              <a:spcAft>
                <a:spcPts val="1200"/>
              </a:spcAft>
              <a:defRPr sz="12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480560" y="2153285"/>
            <a:ext cx="6964680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5C0F1533-3810-C210-9B67-D2F4A1846C23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16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9C70371-D147-2B29-EAEB-B10A799D09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169" y="614812"/>
            <a:ext cx="10359659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5AE226-98C6-70F4-8DED-59E8FE3040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67" y="2177378"/>
            <a:ext cx="5713413" cy="4669987"/>
          </a:xfrm>
          <a:custGeom>
            <a:avLst/>
            <a:gdLst>
              <a:gd name="connsiteX0" fmla="*/ 400038 w 5713413"/>
              <a:gd name="connsiteY0" fmla="*/ 0 h 4669987"/>
              <a:gd name="connsiteX1" fmla="*/ 5713413 w 5713413"/>
              <a:gd name="connsiteY1" fmla="*/ 0 h 4669987"/>
              <a:gd name="connsiteX2" fmla="*/ 5713413 w 5713413"/>
              <a:gd name="connsiteY2" fmla="*/ 4315224 h 4669987"/>
              <a:gd name="connsiteX3" fmla="*/ 400038 w 5713413"/>
              <a:gd name="connsiteY3" fmla="*/ 4315224 h 4669987"/>
              <a:gd name="connsiteX4" fmla="*/ 0 w 5713413"/>
              <a:gd name="connsiteY4" fmla="*/ 0 h 4669987"/>
              <a:gd name="connsiteX5" fmla="*/ 386684 w 5713413"/>
              <a:gd name="connsiteY5" fmla="*/ 0 h 4669987"/>
              <a:gd name="connsiteX6" fmla="*/ 386684 w 5713413"/>
              <a:gd name="connsiteY6" fmla="*/ 4328578 h 4669987"/>
              <a:gd name="connsiteX7" fmla="*/ 5713413 w 5713413"/>
              <a:gd name="connsiteY7" fmla="*/ 4328578 h 4669987"/>
              <a:gd name="connsiteX8" fmla="*/ 5713413 w 5713413"/>
              <a:gd name="connsiteY8" fmla="*/ 4669987 h 4669987"/>
              <a:gd name="connsiteX9" fmla="*/ 0 w 5713413"/>
              <a:gd name="connsiteY9" fmla="*/ 4669987 h 4669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13413" h="4669987">
                <a:moveTo>
                  <a:pt x="400038" y="0"/>
                </a:moveTo>
                <a:lnTo>
                  <a:pt x="5713413" y="0"/>
                </a:lnTo>
                <a:lnTo>
                  <a:pt x="5713413" y="4315224"/>
                </a:lnTo>
                <a:lnTo>
                  <a:pt x="400038" y="4315224"/>
                </a:lnTo>
                <a:close/>
                <a:moveTo>
                  <a:pt x="0" y="0"/>
                </a:moveTo>
                <a:lnTo>
                  <a:pt x="386684" y="0"/>
                </a:lnTo>
                <a:lnTo>
                  <a:pt x="386684" y="4328578"/>
                </a:lnTo>
                <a:lnTo>
                  <a:pt x="5713413" y="4328578"/>
                </a:lnTo>
                <a:lnTo>
                  <a:pt x="5713413" y="4669987"/>
                </a:lnTo>
                <a:lnTo>
                  <a:pt x="0" y="46699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EEA9034-22FD-3C2F-6A27-6363896980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153285"/>
            <a:ext cx="4799012" cy="3790315"/>
          </a:xfrm>
        </p:spPr>
        <p:txBody>
          <a:bodyPr>
            <a:normAutofit/>
          </a:bodyPr>
          <a:lstStyle>
            <a:lvl1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2000"/>
            </a:lvl1pPr>
            <a:lvl2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800"/>
            </a:lvl2pPr>
            <a:lvl3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600"/>
            </a:lvl3pPr>
            <a:lvl4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400"/>
            </a:lvl4pPr>
            <a:lvl5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72AFED-AF5A-A2E9-0D36-388733BBE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7A42E613-3DCC-07A2-BA9B-74B13F28E59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90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30338E2-B50A-8F3E-2CA7-A75753E7E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2629" y="598947"/>
            <a:ext cx="1051560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C8DD029-A673-92B9-0343-3B35BE46D2F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9641" y="2153285"/>
            <a:ext cx="3032759" cy="3790310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6E658BA3-0202-C705-7A02-8B70B788442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724400" y="2170621"/>
            <a:ext cx="6553200" cy="3772974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BD761E53-47C7-492A-D5B5-A8C2740B5157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953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2" y="2153285"/>
            <a:ext cx="6925660" cy="3500438"/>
          </a:xfrm>
        </p:spPr>
        <p:txBody>
          <a:bodyPr lIns="91440">
            <a:normAutofit/>
          </a:bodyPr>
          <a:lstStyle>
            <a:lvl1pPr marL="0" indent="0">
              <a:spcBef>
                <a:spcPts val="1000"/>
              </a:spcBef>
              <a:spcAft>
                <a:spcPts val="1200"/>
              </a:spcAft>
              <a:buNone/>
              <a:defRPr sz="1800" b="0"/>
            </a:lvl1pPr>
            <a:lvl2pPr marL="228600">
              <a:spcBef>
                <a:spcPts val="1000"/>
              </a:spcBef>
              <a:spcAft>
                <a:spcPts val="1200"/>
              </a:spcAft>
              <a:defRPr sz="1800" b="0"/>
            </a:lvl2pPr>
            <a:lvl3pPr marL="685800">
              <a:spcBef>
                <a:spcPts val="1000"/>
              </a:spcBef>
              <a:spcAft>
                <a:spcPts val="1200"/>
              </a:spcAft>
              <a:defRPr sz="1800" b="0"/>
            </a:lvl3pPr>
            <a:lvl4pPr marL="868680">
              <a:spcBef>
                <a:spcPts val="1000"/>
              </a:spcBef>
              <a:spcAft>
                <a:spcPts val="1200"/>
              </a:spcAft>
              <a:defRPr sz="1800" b="0"/>
            </a:lvl4pPr>
            <a:lvl5pPr marL="1143000">
              <a:spcBef>
                <a:spcPts val="1000"/>
              </a:spcBef>
              <a:spcAft>
                <a:spcPts val="1200"/>
              </a:spcAft>
              <a:defRPr sz="18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215745" y="2153285"/>
            <a:ext cx="3229495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 b="1"/>
            </a:lvl1pPr>
            <a:lvl2pPr>
              <a:spcBef>
                <a:spcPts val="1000"/>
              </a:spcBef>
              <a:spcAft>
                <a:spcPts val="1200"/>
              </a:spcAft>
              <a:defRPr sz="1600" b="1"/>
            </a:lvl2pPr>
            <a:lvl3pPr>
              <a:spcBef>
                <a:spcPts val="1000"/>
              </a:spcBef>
              <a:spcAft>
                <a:spcPts val="1200"/>
              </a:spcAft>
              <a:defRPr sz="1400" b="1"/>
            </a:lvl3pPr>
            <a:lvl4pPr>
              <a:spcBef>
                <a:spcPts val="1000"/>
              </a:spcBef>
              <a:spcAft>
                <a:spcPts val="1200"/>
              </a:spcAft>
              <a:defRPr sz="1200" b="1"/>
            </a:lvl4pPr>
            <a:lvl5pPr>
              <a:spcBef>
                <a:spcPts val="1000"/>
              </a:spcBef>
              <a:spcAft>
                <a:spcPts val="1200"/>
              </a:spcAft>
              <a:defRPr sz="12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C9F70CF1-DCAD-AE71-6B34-7BFB25EE530B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235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33145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0CF90928-AB48-3554-E2B9-417A00F286A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930275" y="2168526"/>
            <a:ext cx="10331450" cy="393906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D6C0A7-887A-66E2-A954-5E0592B9F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688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BB1E76-5845-01C9-1D0D-03CFFE6F0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96C21AF-4286-DECE-37A1-E8980687A1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655320"/>
            <a:ext cx="4572000" cy="5486400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E1D6B3-3EC8-6AC4-BE2B-5C732C85679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773680"/>
            <a:ext cx="4572000" cy="336804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457200" indent="0">
              <a:spcBef>
                <a:spcPts val="1000"/>
              </a:spcBef>
              <a:buNone/>
              <a:defRPr sz="1600"/>
            </a:lvl2pPr>
            <a:lvl3pPr marL="914400" indent="0">
              <a:spcBef>
                <a:spcPts val="1000"/>
              </a:spcBef>
              <a:buNone/>
              <a:defRPr sz="1400"/>
            </a:lvl3pPr>
            <a:lvl4pPr marL="1371600" indent="0">
              <a:spcBef>
                <a:spcPts val="1000"/>
              </a:spcBef>
              <a:buNone/>
              <a:defRPr sz="1200"/>
            </a:lvl4pPr>
            <a:lvl5pPr marL="1828800" indent="0"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1139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1920" userDrawn="1">
          <p15:clr>
            <a:srgbClr val="F26B43"/>
          </p15:clr>
        </p15:guide>
        <p15:guide id="4" pos="5760" userDrawn="1">
          <p15:clr>
            <a:srgbClr val="F26B43"/>
          </p15:clr>
        </p15:guide>
        <p15:guide id="5" pos="7248" userDrawn="1">
          <p15:clr>
            <a:srgbClr val="F26B43"/>
          </p15:clr>
        </p15:guide>
        <p15:guide id="6" pos="4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1.xml"/><Relationship Id="rId4" Type="http://schemas.openxmlformats.org/officeDocument/2006/relationships/hyperlink" Target="https://wedocs.unep.org/items/dbe2cd4c-8384-4636-8359-5847f42b9711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dreamstime.com/illustration/machine-learning-icon.html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hyperlink" Target="https://www.dreamstime.com/illustration/machine-learning-icon.html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kaggle.com/datasets/sriramr/fruits-fresh-and-rotten-for-classification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figure/K-Nearest-Neighbors-KNN-model_fig4_382849084" TargetMode="External"/><Relationship Id="rId3" Type="http://schemas.openxmlformats.org/officeDocument/2006/relationships/image" Target="../media/image10.png"/><Relationship Id="rId7" Type="http://schemas.openxmlformats.org/officeDocument/2006/relationships/hyperlink" Target="https://www.researchgate.net/figure/GG-16-CNN-model-architecture-layer-wise_fig8_346259768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medium.com/analytics-vidhya/understanding-logistic-regression-b3c672deac04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66F8037-CCF5-EC04-EF61-9CA2C0F52C19}"/>
              </a:ext>
            </a:extLst>
          </p:cNvPr>
          <p:cNvGrpSpPr/>
          <p:nvPr/>
        </p:nvGrpSpPr>
        <p:grpSpPr>
          <a:xfrm>
            <a:off x="413468" y="3060260"/>
            <a:ext cx="10884772" cy="3432910"/>
            <a:chOff x="413469" y="1975853"/>
            <a:chExt cx="10884772" cy="4287230"/>
          </a:xfrm>
        </p:grpSpPr>
        <p:sp>
          <p:nvSpPr>
            <p:cNvPr id="5" name="Title 2">
              <a:extLst>
                <a:ext uri="{FF2B5EF4-FFF2-40B4-BE49-F238E27FC236}">
                  <a16:creationId xmlns:a16="http://schemas.microsoft.com/office/drawing/2014/main" id="{97293BEE-0537-5950-901C-F03718EFE7F7}"/>
                </a:ext>
              </a:extLst>
            </p:cNvPr>
            <p:cNvSpPr txBox="1">
              <a:spLocks/>
            </p:cNvSpPr>
            <p:nvPr/>
          </p:nvSpPr>
          <p:spPr>
            <a:xfrm>
              <a:off x="413469" y="1975853"/>
              <a:ext cx="10884772" cy="922352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endParaRPr lang="sv-S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2D30296-F116-C33D-FDB3-8261F9C3D475}"/>
                </a:ext>
              </a:extLst>
            </p:cNvPr>
            <p:cNvSpPr txBox="1"/>
            <p:nvPr/>
          </p:nvSpPr>
          <p:spPr>
            <a:xfrm>
              <a:off x="413469" y="2898205"/>
              <a:ext cx="10884772" cy="4612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"/>
              </a:endParaRPr>
            </a:p>
          </p:txBody>
        </p:sp>
        <p:sp>
          <p:nvSpPr>
            <p:cNvPr id="14" name="Title 2">
              <a:extLst>
                <a:ext uri="{FF2B5EF4-FFF2-40B4-BE49-F238E27FC236}">
                  <a16:creationId xmlns:a16="http://schemas.microsoft.com/office/drawing/2014/main" id="{61938455-16AC-6F6D-BC2B-0FFF3D3FA98C}"/>
                </a:ext>
              </a:extLst>
            </p:cNvPr>
            <p:cNvSpPr txBox="1">
              <a:spLocks/>
            </p:cNvSpPr>
            <p:nvPr/>
          </p:nvSpPr>
          <p:spPr>
            <a:xfrm>
              <a:off x="413469" y="3955820"/>
              <a:ext cx="3511019" cy="59586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ko-KR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"/>
                </a:rPr>
                <a:t>호서대학교</a:t>
              </a:r>
              <a:endPara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AC499B7-7345-BD58-87B3-C5A3A3D6D178}"/>
                </a:ext>
              </a:extLst>
            </p:cNvPr>
            <p:cNvSpPr txBox="1"/>
            <p:nvPr/>
          </p:nvSpPr>
          <p:spPr>
            <a:xfrm>
              <a:off x="413469" y="5062754"/>
              <a:ext cx="6619721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419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Presenter</a:t>
              </a:r>
              <a:r>
                <a:rPr lang="es-419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 Nadir </a:t>
              </a:r>
              <a:r>
                <a:rPr lang="en-US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Anushah</a:t>
              </a: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, </a:t>
              </a:r>
            </a:p>
            <a:p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Nizam Tanzina,</a:t>
              </a:r>
            </a:p>
            <a:p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Soriano Adan</a:t>
              </a:r>
            </a:p>
            <a:p>
              <a:pPr algn="l"/>
              <a:endParaRPr lang="sv-S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"/>
              </a:endParaRPr>
            </a:p>
          </p:txBody>
        </p:sp>
        <p:sp>
          <p:nvSpPr>
            <p:cNvPr id="17" name="Title 2">
              <a:extLst>
                <a:ext uri="{FF2B5EF4-FFF2-40B4-BE49-F238E27FC236}">
                  <a16:creationId xmlns:a16="http://schemas.microsoft.com/office/drawing/2014/main" id="{9B6C83E3-F7F7-D0DB-A5EE-6560C8A634F2}"/>
                </a:ext>
              </a:extLst>
            </p:cNvPr>
            <p:cNvSpPr txBox="1">
              <a:spLocks/>
            </p:cNvSpPr>
            <p:nvPr/>
          </p:nvSpPr>
          <p:spPr>
            <a:xfrm>
              <a:off x="413469" y="4466888"/>
              <a:ext cx="3496639" cy="59586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ko-KR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Sans"/>
                </a:rPr>
                <a:t>영상처리 특론</a:t>
              </a:r>
              <a:endPara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"/>
              </a:endParaRPr>
            </a:p>
          </p:txBody>
        </p:sp>
      </p:grpSp>
      <p:sp>
        <p:nvSpPr>
          <p:cNvPr id="18" name="Title 2">
            <a:extLst>
              <a:ext uri="{FF2B5EF4-FFF2-40B4-BE49-F238E27FC236}">
                <a16:creationId xmlns:a16="http://schemas.microsoft.com/office/drawing/2014/main" id="{29468283-39CC-C8F0-BD17-6FF50818FDC5}"/>
              </a:ext>
            </a:extLst>
          </p:cNvPr>
          <p:cNvSpPr txBox="1">
            <a:spLocks/>
          </p:cNvSpPr>
          <p:nvPr/>
        </p:nvSpPr>
        <p:spPr>
          <a:xfrm>
            <a:off x="413468" y="364830"/>
            <a:ext cx="9499653" cy="25167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600" dirty="0">
                <a:latin typeface="Source Sans"/>
              </a:rPr>
              <a:t>Our Project name</a:t>
            </a:r>
          </a:p>
          <a:p>
            <a:r>
              <a:rPr lang="ko-KR" altLang="en-US" sz="4800" dirty="0"/>
              <a:t>한국어로</a:t>
            </a:r>
            <a:endParaRPr lang="en-US" sz="4600" dirty="0">
              <a:latin typeface="Source Sans"/>
            </a:endParaRPr>
          </a:p>
        </p:txBody>
      </p:sp>
    </p:spTree>
    <p:extLst>
      <p:ext uri="{BB962C8B-B14F-4D97-AF65-F5344CB8AC3E}">
        <p14:creationId xmlns:p14="http://schemas.microsoft.com/office/powerpoint/2010/main" val="3865085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F5107-45E1-A0E8-6284-2F4709AAB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4C7D9-8986-331F-F691-16AEEADA2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EAB17C30-913D-B525-D8C5-A4A44026ACEB}"/>
              </a:ext>
            </a:extLst>
          </p:cNvPr>
          <p:cNvSpPr txBox="1">
            <a:spLocks/>
          </p:cNvSpPr>
          <p:nvPr/>
        </p:nvSpPr>
        <p:spPr>
          <a:xfrm>
            <a:off x="413469" y="364831"/>
            <a:ext cx="6556674" cy="772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Source Sans"/>
              </a:rPr>
              <a:t>Table of </a:t>
            </a:r>
            <a:r>
              <a:rPr lang="en-US" sz="4800">
                <a:latin typeface="Source Sans"/>
              </a:rPr>
              <a:t>Contents </a:t>
            </a:r>
            <a:r>
              <a:rPr lang="ko-KR" altLang="en-US" sz="4800" dirty="0">
                <a:latin typeface="Source Sans"/>
              </a:rPr>
              <a:t>목차</a:t>
            </a:r>
            <a:endParaRPr lang="en-US" sz="4800" dirty="0">
              <a:latin typeface="Source Sans"/>
            </a:endParaRP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15DE5928-B7A1-2BBC-63D6-DE3B6BBA524F}"/>
              </a:ext>
            </a:extLst>
          </p:cNvPr>
          <p:cNvSpPr txBox="1">
            <a:spLocks/>
          </p:cNvSpPr>
          <p:nvPr/>
        </p:nvSpPr>
        <p:spPr>
          <a:xfrm>
            <a:off x="413469" y="2438400"/>
            <a:ext cx="8687399" cy="3505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"/>
              </a:rPr>
              <a:t>Introduction /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"/>
              </a:rPr>
              <a:t>서론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Source Sans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"/>
              </a:rPr>
              <a:t>Motivation /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"/>
              </a:rPr>
              <a:t>동기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Source Sans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"/>
              </a:rPr>
              <a:t>Problem Statement /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"/>
              </a:rPr>
              <a:t>문제 정의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Source Sans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"/>
              </a:rPr>
              <a:t>Related Work /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"/>
              </a:rPr>
              <a:t>관련 연구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Source Sans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"/>
              </a:rPr>
              <a:t>Methodology /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"/>
              </a:rPr>
              <a:t>방법론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Source Sans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"/>
              </a:rPr>
              <a:t>Results /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"/>
              </a:rPr>
              <a:t>결과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Source Sans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"/>
              </a:rPr>
              <a:t>Conclusion /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"/>
              </a:rPr>
              <a:t>결론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Source Sans"/>
            </a:endParaRPr>
          </a:p>
        </p:txBody>
      </p:sp>
    </p:spTree>
    <p:extLst>
      <p:ext uri="{BB962C8B-B14F-4D97-AF65-F5344CB8AC3E}">
        <p14:creationId xmlns:p14="http://schemas.microsoft.com/office/powerpoint/2010/main" val="511618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CBD37-D2CB-3FED-7ECB-85CDF366C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058062D-7862-5CE6-5E66-8D54CC8A9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189" y="914399"/>
            <a:ext cx="10889411" cy="5029199"/>
          </a:xfrm>
        </p:spPr>
        <p:txBody>
          <a:bodyPr/>
          <a:lstStyle/>
          <a:p>
            <a:r>
              <a:rPr lang="en-US" dirty="0">
                <a:latin typeface="Source Sans"/>
              </a:rPr>
              <a:t>1. Introduction</a:t>
            </a:r>
            <a:br>
              <a:rPr lang="en-US" dirty="0">
                <a:latin typeface="Source Sans"/>
              </a:rPr>
            </a:br>
            <a:r>
              <a:rPr lang="en-US" dirty="0">
                <a:latin typeface="Source Sans"/>
              </a:rPr>
              <a:t>	</a:t>
            </a:r>
            <a:r>
              <a:rPr lang="ko-KR" altLang="en-US" dirty="0">
                <a:latin typeface="Source Sans"/>
              </a:rPr>
              <a:t>서론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0883E6-8222-A693-B557-971D91E866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113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FF21E-1FB1-54F3-BAED-A2D364C43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01C64112-45A4-07AF-ABE5-B7C74BC7F2AE}"/>
              </a:ext>
            </a:extLst>
          </p:cNvPr>
          <p:cNvSpPr txBox="1">
            <a:spLocks/>
          </p:cNvSpPr>
          <p:nvPr/>
        </p:nvSpPr>
        <p:spPr>
          <a:xfrm>
            <a:off x="572569" y="1232073"/>
            <a:ext cx="6657174" cy="2895546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Source Sans"/>
              </a:rPr>
              <a:t>Here goes the introduction with the infographics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Source Sans"/>
              <a:ea typeface="Source Sans Pro" panose="020B0503030403020204" pitchFamily="34" charset="0"/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341C7A29-C67E-62B7-7C7E-5CB19071AC89}"/>
              </a:ext>
            </a:extLst>
          </p:cNvPr>
          <p:cNvSpPr txBox="1">
            <a:spLocks/>
          </p:cNvSpPr>
          <p:nvPr/>
        </p:nvSpPr>
        <p:spPr>
          <a:xfrm>
            <a:off x="413469" y="364831"/>
            <a:ext cx="6297882" cy="8672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Source Sans"/>
              </a:rPr>
              <a:t>Introduction </a:t>
            </a:r>
            <a:r>
              <a:rPr lang="ko-KR" altLang="en-US" sz="4800" dirty="0">
                <a:latin typeface="Source Sans"/>
              </a:rPr>
              <a:t>서론</a:t>
            </a:r>
            <a:endParaRPr lang="en-US" sz="4800" dirty="0">
              <a:latin typeface="Source Sa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3FF41EE-E610-9122-7228-6DC9F5177774}"/>
                  </a:ext>
                </a:extLst>
              </p:cNvPr>
              <p:cNvSpPr txBox="1"/>
              <p:nvPr/>
            </p:nvSpPr>
            <p:spPr>
              <a:xfrm>
                <a:off x="7583282" y="3963112"/>
                <a:ext cx="40361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200" b="0" i="1" u="none" strike="noStrike" baseline="0" dirty="0"/>
                  <a:t>표</a:t>
                </a:r>
                <a:r>
                  <a:rPr lang="en-US" sz="1200" b="0" i="1" u="none" strike="noStrike" baseline="0" dirty="0"/>
                  <a:t> 1. Descrip</a:t>
                </a:r>
                <a:r>
                  <a:rPr lang="en-US" sz="1200" i="1" dirty="0"/>
                  <a:t>tion 1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sz="1200" i="1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3FF41EE-E610-9122-7228-6DC9F5177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3282" y="3963112"/>
                <a:ext cx="4036149" cy="276999"/>
              </a:xfrm>
              <a:prstGeom prst="rect">
                <a:avLst/>
              </a:prstGeom>
              <a:blipFill>
                <a:blip r:embed="rId3"/>
                <a:stretch>
                  <a:fillRect t="-2174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AD1C44C6-E173-C356-33A2-E41254BC495C}"/>
              </a:ext>
            </a:extLst>
          </p:cNvPr>
          <p:cNvSpPr txBox="1"/>
          <p:nvPr/>
        </p:nvSpPr>
        <p:spPr>
          <a:xfrm>
            <a:off x="3378762" y="5096497"/>
            <a:ext cx="367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/>
              <a:t>*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AE75D1-9E33-029E-129C-73608680FC49}"/>
              </a:ext>
            </a:extLst>
          </p:cNvPr>
          <p:cNvSpPr txBox="1"/>
          <p:nvPr/>
        </p:nvSpPr>
        <p:spPr>
          <a:xfrm>
            <a:off x="413469" y="6216170"/>
            <a:ext cx="69945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/>
              <a:t>1. Food Waste Index Report 2024: </a:t>
            </a:r>
            <a:r>
              <a:rPr lang="en-US" sz="1200" i="1" dirty="0">
                <a:hlinkClick r:id="rId4"/>
              </a:rPr>
              <a:t>https://wedocs.unep.org/items/dbe2cd4c-8384-4636-8359-5847f42b9711</a:t>
            </a:r>
            <a:endParaRPr lang="en-US" sz="1200" i="1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987C98D1-8276-438F-01F1-16794855D9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68199D0-07F2-E4EC-2D2D-1EABAE21E7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3193293"/>
              </p:ext>
            </p:extLst>
          </p:nvPr>
        </p:nvGraphicFramePr>
        <p:xfrm>
          <a:off x="7388843" y="781993"/>
          <a:ext cx="4389688" cy="3181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733788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31F78-A8F0-B5E6-8FDA-DE2E98902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07EC44A-33BD-CF49-3888-DEA4A8762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189" y="914399"/>
            <a:ext cx="10889411" cy="5029199"/>
          </a:xfrm>
        </p:spPr>
        <p:txBody>
          <a:bodyPr/>
          <a:lstStyle/>
          <a:p>
            <a:r>
              <a:rPr lang="en-US" dirty="0">
                <a:latin typeface="Source Sans"/>
              </a:rPr>
              <a:t>2. Motivation</a:t>
            </a:r>
            <a:br>
              <a:rPr lang="en-US" dirty="0">
                <a:latin typeface="Source Sans"/>
              </a:rPr>
            </a:br>
            <a:r>
              <a:rPr lang="en-US" dirty="0">
                <a:latin typeface="Source Sans"/>
              </a:rPr>
              <a:t>	</a:t>
            </a:r>
            <a:r>
              <a:rPr lang="ko-KR" altLang="en-US" dirty="0"/>
              <a:t>동기</a:t>
            </a:r>
            <a:endParaRPr lang="en-US" dirty="0">
              <a:latin typeface="Source San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007901-33B2-0FA2-704F-02A51FA25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900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C6405-C544-1387-25DD-900A4DEDC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72C0D625-EA8D-7AD1-2506-A331EAF63635}"/>
              </a:ext>
            </a:extLst>
          </p:cNvPr>
          <p:cNvSpPr txBox="1">
            <a:spLocks/>
          </p:cNvSpPr>
          <p:nvPr/>
        </p:nvSpPr>
        <p:spPr>
          <a:xfrm>
            <a:off x="413469" y="2575381"/>
            <a:ext cx="10892617" cy="1514742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vert="horz" wrap="square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Source Sans"/>
              </a:rPr>
              <a:t>- Early recognition of rotten fruit contributes to decreased food waste.</a:t>
            </a:r>
          </a:p>
          <a:p>
            <a:pPr algn="just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Source Sans"/>
              </a:rPr>
              <a:t>- </a:t>
            </a:r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Source Sans"/>
              </a:rPr>
              <a:t>Ensures consumer safety by preventing potentially harmful products from reaching consumers.</a:t>
            </a:r>
          </a:p>
          <a:p>
            <a:pPr algn="just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Source Sans"/>
              </a:rPr>
              <a:t>- Quality control is critical for distribution, retail, and the agricultural industry.</a:t>
            </a:r>
          </a:p>
          <a:p>
            <a:pPr algn="just"/>
            <a:endParaRPr lang="en-US" sz="2600" dirty="0">
              <a:solidFill>
                <a:schemeClr val="tx1">
                  <a:lumMod val="85000"/>
                  <a:lumOff val="15000"/>
                </a:schemeClr>
              </a:solidFill>
              <a:latin typeface="Source Sans"/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F827F7A8-FAA3-F18E-3D79-40E01BD8E928}"/>
              </a:ext>
            </a:extLst>
          </p:cNvPr>
          <p:cNvSpPr txBox="1">
            <a:spLocks/>
          </p:cNvSpPr>
          <p:nvPr/>
        </p:nvSpPr>
        <p:spPr>
          <a:xfrm>
            <a:off x="413469" y="364831"/>
            <a:ext cx="8952722" cy="12461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Source Sans"/>
              </a:rPr>
              <a:t>Motivation</a:t>
            </a:r>
          </a:p>
          <a:p>
            <a:r>
              <a:rPr lang="ko-KR" altLang="en-US" sz="4800" dirty="0"/>
              <a:t>동기</a:t>
            </a:r>
            <a:endParaRPr lang="en-US" sz="4800" dirty="0">
              <a:latin typeface="Source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8D08EC-7359-F241-6B78-D37E62485867}"/>
              </a:ext>
            </a:extLst>
          </p:cNvPr>
          <p:cNvSpPr txBox="1"/>
          <p:nvPr/>
        </p:nvSpPr>
        <p:spPr>
          <a:xfrm>
            <a:off x="413469" y="1878404"/>
            <a:ext cx="94206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Source Sans"/>
              </a:rPr>
              <a:t>Why this matters? </a:t>
            </a:r>
            <a:r>
              <a:rPr lang="ko-KR" altLang="en-US" sz="3600" dirty="0"/>
              <a:t>왜 중요한가</a:t>
            </a:r>
            <a:r>
              <a:rPr lang="en-US" altLang="ko-KR" sz="3600" dirty="0"/>
              <a:t>?</a:t>
            </a:r>
            <a:r>
              <a:rPr lang="en-US" sz="36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Source Sans"/>
              </a:rPr>
              <a:t>  </a:t>
            </a:r>
            <a:endParaRPr lang="en-US" sz="3600" i="1" dirty="0"/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9CCCB20F-FAD6-317B-AB13-9B9D238AC735}"/>
              </a:ext>
            </a:extLst>
          </p:cNvPr>
          <p:cNvSpPr txBox="1">
            <a:spLocks/>
          </p:cNvSpPr>
          <p:nvPr/>
        </p:nvSpPr>
        <p:spPr>
          <a:xfrm>
            <a:off x="349739" y="5003873"/>
            <a:ext cx="10892617" cy="1215772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Source San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B1232-A463-1859-D017-95AD865479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988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70F00-B872-0153-6FAF-2FA10B56B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B4CB5AD-B9D7-E4D7-42AF-59DE7884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189" y="914399"/>
            <a:ext cx="10889411" cy="5029199"/>
          </a:xfrm>
        </p:spPr>
        <p:txBody>
          <a:bodyPr/>
          <a:lstStyle/>
          <a:p>
            <a:r>
              <a:rPr lang="en-US" dirty="0">
                <a:latin typeface="Source Sans"/>
              </a:rPr>
              <a:t>3. Problem Statement</a:t>
            </a:r>
            <a:br>
              <a:rPr lang="en-US" dirty="0">
                <a:latin typeface="Source Sans"/>
              </a:rPr>
            </a:br>
            <a:r>
              <a:rPr lang="en-US" dirty="0">
                <a:latin typeface="Source Sans"/>
              </a:rPr>
              <a:t>	</a:t>
            </a:r>
            <a:r>
              <a:rPr lang="ko-KR" altLang="en-US" dirty="0"/>
              <a:t>문제 정의</a:t>
            </a:r>
            <a:endParaRPr lang="en-US" dirty="0">
              <a:latin typeface="Source San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1571ED-BEF8-9A87-628A-0C862FBC8E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035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1445D-16FC-5133-05B2-2142761B3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681B6F9-3AC0-E1A8-58FB-AE0FD615E7F1}"/>
              </a:ext>
            </a:extLst>
          </p:cNvPr>
          <p:cNvSpPr txBox="1">
            <a:spLocks/>
          </p:cNvSpPr>
          <p:nvPr/>
        </p:nvSpPr>
        <p:spPr>
          <a:xfrm>
            <a:off x="413469" y="2575381"/>
            <a:ext cx="10892617" cy="1514742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600" dirty="0">
              <a:solidFill>
                <a:schemeClr val="tx1">
                  <a:lumMod val="85000"/>
                  <a:lumOff val="15000"/>
                </a:schemeClr>
              </a:solidFill>
              <a:latin typeface="Source Sans"/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454F06B2-55AB-2A9B-D3E3-88D4BC138EAB}"/>
              </a:ext>
            </a:extLst>
          </p:cNvPr>
          <p:cNvSpPr txBox="1">
            <a:spLocks/>
          </p:cNvSpPr>
          <p:nvPr/>
        </p:nvSpPr>
        <p:spPr>
          <a:xfrm>
            <a:off x="413469" y="364831"/>
            <a:ext cx="8952722" cy="12461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Source Sans"/>
              </a:rPr>
              <a:t>Problem Statement </a:t>
            </a:r>
          </a:p>
          <a:p>
            <a:r>
              <a:rPr lang="ko-KR" altLang="en-US" sz="4800" dirty="0"/>
              <a:t>문제 정의</a:t>
            </a:r>
            <a:endParaRPr lang="en-US" sz="4800" dirty="0">
              <a:latin typeface="Source Sans"/>
            </a:endParaRP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DFB12079-1D7B-6A2D-A307-424470D79A76}"/>
              </a:ext>
            </a:extLst>
          </p:cNvPr>
          <p:cNvSpPr txBox="1">
            <a:spLocks/>
          </p:cNvSpPr>
          <p:nvPr/>
        </p:nvSpPr>
        <p:spPr>
          <a:xfrm>
            <a:off x="349739" y="2346127"/>
            <a:ext cx="10892617" cy="1215772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Source Sans"/>
              </a:rPr>
              <a:t>Distinguishing between fresh and rotten fruits at scale remains a significant challenge and current inspection methods lack the speed and consistency required for modern supply chains.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F917C-051C-E156-2AF6-01775F802E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949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4E67A-E6DD-1F97-8074-DF9F43AFB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E7F7C01-24B9-5B40-AB48-1ED16B49A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62" y="914399"/>
            <a:ext cx="10898038" cy="5029199"/>
          </a:xfrm>
        </p:spPr>
        <p:txBody>
          <a:bodyPr/>
          <a:lstStyle/>
          <a:p>
            <a:r>
              <a:rPr lang="en-US" dirty="0">
                <a:latin typeface="Source Sans"/>
              </a:rPr>
              <a:t>3. Related Work</a:t>
            </a:r>
            <a:br>
              <a:rPr lang="en-US" dirty="0">
                <a:latin typeface="Source Sans"/>
              </a:rPr>
            </a:br>
            <a:r>
              <a:rPr lang="en-US" dirty="0">
                <a:latin typeface="Source Sans"/>
              </a:rPr>
              <a:t>	</a:t>
            </a:r>
            <a:r>
              <a:rPr lang="ko-KR" altLang="en-US" dirty="0">
                <a:latin typeface="Source Sans"/>
              </a:rPr>
              <a:t>관련 연구</a:t>
            </a:r>
            <a:endParaRPr lang="en-US" dirty="0">
              <a:latin typeface="Source San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D366D1-F84F-D635-3D60-29879C562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604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A37FC-9A97-1BE6-4592-A26EADCAB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9">
            <a:extLst>
              <a:ext uri="{FF2B5EF4-FFF2-40B4-BE49-F238E27FC236}">
                <a16:creationId xmlns:a16="http://schemas.microsoft.com/office/drawing/2014/main" id="{F00175BF-771C-4DC5-A400-BFD58A1F8782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2915621389"/>
              </p:ext>
            </p:extLst>
          </p:nvPr>
        </p:nvGraphicFramePr>
        <p:xfrm>
          <a:off x="930275" y="1550504"/>
          <a:ext cx="10331451" cy="3983244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3414151">
                  <a:extLst>
                    <a:ext uri="{9D8B030D-6E8A-4147-A177-3AD203B41FA5}">
                      <a16:colId xmlns:a16="http://schemas.microsoft.com/office/drawing/2014/main" val="3446012419"/>
                    </a:ext>
                  </a:extLst>
                </a:gridCol>
                <a:gridCol w="1920781">
                  <a:extLst>
                    <a:ext uri="{9D8B030D-6E8A-4147-A177-3AD203B41FA5}">
                      <a16:colId xmlns:a16="http://schemas.microsoft.com/office/drawing/2014/main" val="1144619157"/>
                    </a:ext>
                  </a:extLst>
                </a:gridCol>
                <a:gridCol w="1598529">
                  <a:extLst>
                    <a:ext uri="{9D8B030D-6E8A-4147-A177-3AD203B41FA5}">
                      <a16:colId xmlns:a16="http://schemas.microsoft.com/office/drawing/2014/main" val="4052646397"/>
                    </a:ext>
                  </a:extLst>
                </a:gridCol>
                <a:gridCol w="1698995">
                  <a:extLst>
                    <a:ext uri="{9D8B030D-6E8A-4147-A177-3AD203B41FA5}">
                      <a16:colId xmlns:a16="http://schemas.microsoft.com/office/drawing/2014/main" val="1935352797"/>
                    </a:ext>
                  </a:extLst>
                </a:gridCol>
                <a:gridCol w="1698995">
                  <a:extLst>
                    <a:ext uri="{9D8B030D-6E8A-4147-A177-3AD203B41FA5}">
                      <a16:colId xmlns:a16="http://schemas.microsoft.com/office/drawing/2014/main" val="1500783375"/>
                    </a:ext>
                  </a:extLst>
                </a:gridCol>
              </a:tblGrid>
              <a:tr h="497499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Paper  </a:t>
                      </a:r>
                      <a:r>
                        <a:rPr lang="ko-KR" alt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논문</a:t>
                      </a:r>
                      <a:endParaRPr lang="en-US" sz="1800" b="1" u="none" strike="noStrike" dirty="0">
                        <a:solidFill>
                          <a:schemeClr val="tx1"/>
                        </a:solidFill>
                        <a:effectLst/>
                        <a:latin typeface="Source Sans"/>
                      </a:endParaRPr>
                    </a:p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(Year) (</a:t>
                      </a:r>
                      <a:r>
                        <a:rPr lang="ko-KR" alt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연도</a:t>
                      </a:r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)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Source Sans"/>
                      </a:endParaRPr>
                    </a:p>
                  </a:txBody>
                  <a:tcPr marL="2880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Authors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저자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Source Sans"/>
                      </a:endParaRPr>
                    </a:p>
                  </a:txBody>
                  <a:tcPr marL="2880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419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D</a:t>
                      </a:r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ataset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Source Sans"/>
                      </a:endParaRPr>
                    </a:p>
                    <a:p>
                      <a:pPr algn="l" fontAlgn="b"/>
                      <a:r>
                        <a:rPr lang="ko-KR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데이터셋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Source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Model-Method</a:t>
                      </a:r>
                    </a:p>
                    <a:p>
                      <a:pPr algn="l" fontAlgn="b"/>
                      <a:r>
                        <a:rPr lang="ko-KR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모델</a:t>
                      </a:r>
                      <a:r>
                        <a:rPr lang="en-US" altLang="ko-KR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-</a:t>
                      </a:r>
                      <a:r>
                        <a:rPr lang="ko-KR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방법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Source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Metrics</a:t>
                      </a:r>
                    </a:p>
                    <a:p>
                      <a:pPr algn="l" fontAlgn="b"/>
                      <a:r>
                        <a:rPr lang="es-419" altLang="ko-KR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IN KOREAN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Source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0773105"/>
                  </a:ext>
                </a:extLst>
              </a:tr>
              <a:tr h="675771">
                <a:tc>
                  <a:txBody>
                    <a:bodyPr/>
                    <a:lstStyle/>
                    <a:p>
                      <a:r>
                        <a:rPr lang="es-419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Paper #1 (20XX)</a:t>
                      </a:r>
                      <a:endParaRPr lang="fr-FR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Kumar et al.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Banana images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SVM + ResNet (EMLT)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2911372"/>
                  </a:ext>
                </a:extLst>
              </a:tr>
              <a:tr h="675771">
                <a:tc>
                  <a:txBody>
                    <a:bodyPr/>
                    <a:lstStyle/>
                    <a:p>
                      <a:r>
                        <a:rPr lang="es-419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Paper #2 (20XX)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Sultana et al.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 fruit types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ResNet50, MobileNetV2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3393929"/>
                  </a:ext>
                </a:extLst>
              </a:tr>
              <a:tr h="675771">
                <a:tc>
                  <a:txBody>
                    <a:bodyPr/>
                    <a:lstStyle/>
                    <a:p>
                      <a:r>
                        <a:rPr lang="es-419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Paper #3 (20XX)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SANGAM et al.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Apple, banana, orange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711469"/>
                  </a:ext>
                </a:extLst>
              </a:tr>
              <a:tr h="675771">
                <a:tc>
                  <a:txBody>
                    <a:bodyPr/>
                    <a:lstStyle/>
                    <a:p>
                      <a:r>
                        <a:rPr lang="es-419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Paper #4 (20XX)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Amin et al.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 public datasets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AlexNet (8 layers)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8944196"/>
                  </a:ext>
                </a:extLst>
              </a:tr>
              <a:tr h="598633">
                <a:tc>
                  <a:txBody>
                    <a:bodyPr/>
                    <a:lstStyle/>
                    <a:p>
                      <a:r>
                        <a:rPr lang="es-419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Paper ## (20XX) </a:t>
                      </a:r>
                      <a:r>
                        <a:rPr lang="es-419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maybe</a:t>
                      </a:r>
                      <a:r>
                        <a:rPr lang="es-419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4 </a:t>
                      </a:r>
                      <a:r>
                        <a:rPr lang="es-419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its</a:t>
                      </a:r>
                      <a:r>
                        <a:rPr lang="es-419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419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enough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Kang et al.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Multiple fruit types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Multi-task CNN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1606819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38A5F2-7E23-ABE7-F47F-82F31F425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4B655C50-B8B2-4BDB-0E6A-232344EE53D6}"/>
              </a:ext>
            </a:extLst>
          </p:cNvPr>
          <p:cNvSpPr txBox="1">
            <a:spLocks/>
          </p:cNvSpPr>
          <p:nvPr/>
        </p:nvSpPr>
        <p:spPr>
          <a:xfrm>
            <a:off x="413469" y="364831"/>
            <a:ext cx="6297882" cy="8672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Source Sans"/>
              </a:rPr>
              <a:t>Related Work </a:t>
            </a:r>
            <a:r>
              <a:rPr lang="ko-KR" altLang="en-US" sz="4800" dirty="0">
                <a:latin typeface="Source Sans"/>
              </a:rPr>
              <a:t>관련 연구</a:t>
            </a:r>
            <a:endParaRPr lang="en-US" sz="4800" dirty="0">
              <a:latin typeface="Source Sans"/>
            </a:endParaRPr>
          </a:p>
        </p:txBody>
      </p:sp>
    </p:spTree>
    <p:extLst>
      <p:ext uri="{BB962C8B-B14F-4D97-AF65-F5344CB8AC3E}">
        <p14:creationId xmlns:p14="http://schemas.microsoft.com/office/powerpoint/2010/main" val="1973872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0B201-AEC0-5337-BD0F-690728B61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57E5F76-B95A-2F97-37D2-309C65576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189" y="914399"/>
            <a:ext cx="10889411" cy="5029199"/>
          </a:xfrm>
        </p:spPr>
        <p:txBody>
          <a:bodyPr/>
          <a:lstStyle/>
          <a:p>
            <a:r>
              <a:rPr lang="en-US" dirty="0">
                <a:latin typeface="Source Sans"/>
              </a:rPr>
              <a:t>4. Methodology</a:t>
            </a:r>
            <a:br>
              <a:rPr lang="en-US" dirty="0">
                <a:latin typeface="Source Sans"/>
              </a:rPr>
            </a:br>
            <a:r>
              <a:rPr lang="en-US" dirty="0">
                <a:latin typeface="Source Sans"/>
              </a:rPr>
              <a:t>	</a:t>
            </a:r>
            <a:r>
              <a:rPr lang="ko-KR" altLang="en-US" dirty="0">
                <a:latin typeface="Source Sans"/>
              </a:rPr>
              <a:t>방법론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3F0287-ED5E-AD57-CBF6-1981305B07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259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F77F1-50AD-CADD-AA63-2DCDC8AD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0">
            <a:extLst>
              <a:ext uri="{FF2B5EF4-FFF2-40B4-BE49-F238E27FC236}">
                <a16:creationId xmlns:a16="http://schemas.microsoft.com/office/drawing/2014/main" id="{A96A901E-B3D9-1995-38D0-9EFBB28AB96C}"/>
              </a:ext>
            </a:extLst>
          </p:cNvPr>
          <p:cNvSpPr txBox="1">
            <a:spLocks/>
          </p:cNvSpPr>
          <p:nvPr/>
        </p:nvSpPr>
        <p:spPr>
          <a:xfrm>
            <a:off x="470916" y="3391012"/>
            <a:ext cx="1554480" cy="25830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Collect diverse datasets and standardize images through resizing and normalization</a:t>
            </a:r>
          </a:p>
        </p:txBody>
      </p: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362AA3A8-157D-6271-2E5F-B61356F16634}"/>
              </a:ext>
            </a:extLst>
          </p:cNvPr>
          <p:cNvSpPr txBox="1">
            <a:spLocks/>
          </p:cNvSpPr>
          <p:nvPr/>
        </p:nvSpPr>
        <p:spPr>
          <a:xfrm>
            <a:off x="2364388" y="3391011"/>
            <a:ext cx="1554480" cy="25830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Choose pre-trained CNN and adapt it for binary classification task.</a:t>
            </a:r>
          </a:p>
        </p:txBody>
      </p:sp>
      <p:sp>
        <p:nvSpPr>
          <p:cNvPr id="15" name="Text Placeholder 142">
            <a:extLst>
              <a:ext uri="{FF2B5EF4-FFF2-40B4-BE49-F238E27FC236}">
                <a16:creationId xmlns:a16="http://schemas.microsoft.com/office/drawing/2014/main" id="{44B25BB9-D1A5-AFA0-B83F-185743B1E63E}"/>
              </a:ext>
            </a:extLst>
          </p:cNvPr>
          <p:cNvSpPr txBox="1">
            <a:spLocks/>
          </p:cNvSpPr>
          <p:nvPr/>
        </p:nvSpPr>
        <p:spPr>
          <a:xfrm>
            <a:off x="4257858" y="3391012"/>
            <a:ext cx="1554480" cy="2583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Determine optimal learning rate, batch size, dropout rate, and epochs.</a:t>
            </a:r>
          </a:p>
        </p:txBody>
      </p:sp>
      <p:sp>
        <p:nvSpPr>
          <p:cNvPr id="20" name="Text Placeholder 143">
            <a:extLst>
              <a:ext uri="{FF2B5EF4-FFF2-40B4-BE49-F238E27FC236}">
                <a16:creationId xmlns:a16="http://schemas.microsoft.com/office/drawing/2014/main" id="{A04684CD-1BAC-26D8-94DA-402124E4F2A7}"/>
              </a:ext>
            </a:extLst>
          </p:cNvPr>
          <p:cNvSpPr txBox="1">
            <a:spLocks/>
          </p:cNvSpPr>
          <p:nvPr/>
        </p:nvSpPr>
        <p:spPr>
          <a:xfrm>
            <a:off x="6149340" y="3391012"/>
            <a:ext cx="1554480" cy="25830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Train the model using appropriate loss function and optimizer with early stopping.</a:t>
            </a:r>
          </a:p>
        </p:txBody>
      </p:sp>
      <p:sp>
        <p:nvSpPr>
          <p:cNvPr id="25" name="Text Placeholder 144">
            <a:extLst>
              <a:ext uri="{FF2B5EF4-FFF2-40B4-BE49-F238E27FC236}">
                <a16:creationId xmlns:a16="http://schemas.microsoft.com/office/drawing/2014/main" id="{3D8FCAF8-7674-8F76-9B89-EDED644F4FE6}"/>
              </a:ext>
            </a:extLst>
          </p:cNvPr>
          <p:cNvSpPr txBox="1">
            <a:spLocks/>
          </p:cNvSpPr>
          <p:nvPr/>
        </p:nvSpPr>
        <p:spPr>
          <a:xfrm>
            <a:off x="8040822" y="3391011"/>
            <a:ext cx="1554480" cy="25830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Assess generalization performance using accuracy, precision, recall, and F1-score.</a:t>
            </a:r>
          </a:p>
        </p:txBody>
      </p:sp>
      <p:pic>
        <p:nvPicPr>
          <p:cNvPr id="27" name="Picture Placeholder 121" descr="Door Open outline">
            <a:extLst>
              <a:ext uri="{FF2B5EF4-FFF2-40B4-BE49-F238E27FC236}">
                <a16:creationId xmlns:a16="http://schemas.microsoft.com/office/drawing/2014/main" id="{5F78CC23-F362-FBF0-F9F0-A252F20AD3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99038" y="4513453"/>
            <a:ext cx="457200" cy="457200"/>
          </a:xfrm>
          <a:prstGeom prst="ellipse">
            <a:avLst/>
          </a:prstGeom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E9224AD5-0FEB-B681-C828-FCB83061D8E8}"/>
              </a:ext>
            </a:extLst>
          </p:cNvPr>
          <p:cNvGrpSpPr/>
          <p:nvPr/>
        </p:nvGrpSpPr>
        <p:grpSpPr>
          <a:xfrm>
            <a:off x="470916" y="1325763"/>
            <a:ext cx="11015868" cy="918401"/>
            <a:chOff x="470916" y="1860599"/>
            <a:chExt cx="11015868" cy="918401"/>
          </a:xfrm>
        </p:grpSpPr>
        <p:sp>
          <p:nvSpPr>
            <p:cNvPr id="2" name="Text Placeholder 135">
              <a:extLst>
                <a:ext uri="{FF2B5EF4-FFF2-40B4-BE49-F238E27FC236}">
                  <a16:creationId xmlns:a16="http://schemas.microsoft.com/office/drawing/2014/main" id="{94390B99-F3FE-4DF1-3FA5-92E88BAC1303}"/>
                </a:ext>
              </a:extLst>
            </p:cNvPr>
            <p:cNvSpPr txBox="1">
              <a:spLocks/>
            </p:cNvSpPr>
            <p:nvPr/>
          </p:nvSpPr>
          <p:spPr>
            <a:xfrm>
              <a:off x="470916" y="1864599"/>
              <a:ext cx="1554480" cy="9144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dirty="0"/>
                <a:t>Data Collection and Preprocessing</a:t>
              </a:r>
            </a:p>
          </p:txBody>
        </p:sp>
        <p:sp>
          <p:nvSpPr>
            <p:cNvPr id="9" name="Text Placeholder 136">
              <a:extLst>
                <a:ext uri="{FF2B5EF4-FFF2-40B4-BE49-F238E27FC236}">
                  <a16:creationId xmlns:a16="http://schemas.microsoft.com/office/drawing/2014/main" id="{37144652-5CFF-CB97-8041-D1AA22A5541A}"/>
                </a:ext>
              </a:extLst>
            </p:cNvPr>
            <p:cNvSpPr txBox="1">
              <a:spLocks/>
            </p:cNvSpPr>
            <p:nvPr/>
          </p:nvSpPr>
          <p:spPr>
            <a:xfrm>
              <a:off x="2364387" y="1864600"/>
              <a:ext cx="1554480" cy="9144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dirty="0"/>
                <a:t>Model Architecture</a:t>
              </a:r>
            </a:p>
          </p:txBody>
        </p:sp>
        <p:sp>
          <p:nvSpPr>
            <p:cNvPr id="14" name="Text Placeholder 137">
              <a:extLst>
                <a:ext uri="{FF2B5EF4-FFF2-40B4-BE49-F238E27FC236}">
                  <a16:creationId xmlns:a16="http://schemas.microsoft.com/office/drawing/2014/main" id="{424B8AD5-0C30-A98A-0668-B47CBB182FA3}"/>
                </a:ext>
              </a:extLst>
            </p:cNvPr>
            <p:cNvSpPr txBox="1">
              <a:spLocks/>
            </p:cNvSpPr>
            <p:nvPr/>
          </p:nvSpPr>
          <p:spPr>
            <a:xfrm>
              <a:off x="4257858" y="1864599"/>
              <a:ext cx="1554480" cy="9144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dirty="0"/>
                <a:t>Hyper parameter Tuning</a:t>
              </a:r>
            </a:p>
          </p:txBody>
        </p:sp>
        <p:sp>
          <p:nvSpPr>
            <p:cNvPr id="19" name="Text Placeholder 138">
              <a:extLst>
                <a:ext uri="{FF2B5EF4-FFF2-40B4-BE49-F238E27FC236}">
                  <a16:creationId xmlns:a16="http://schemas.microsoft.com/office/drawing/2014/main" id="{1B5AE88E-7E60-4D47-D903-F3B9C7D6CF34}"/>
                </a:ext>
              </a:extLst>
            </p:cNvPr>
            <p:cNvSpPr txBox="1">
              <a:spLocks/>
            </p:cNvSpPr>
            <p:nvPr/>
          </p:nvSpPr>
          <p:spPr>
            <a:xfrm>
              <a:off x="6149340" y="1860599"/>
              <a:ext cx="1554480" cy="9184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dirty="0">
                  <a:solidFill>
                    <a:schemeClr val="bg2"/>
                  </a:solidFill>
                </a:rPr>
                <a:t>Model Training</a:t>
              </a:r>
            </a:p>
          </p:txBody>
        </p:sp>
        <p:sp>
          <p:nvSpPr>
            <p:cNvPr id="24" name="Text Placeholder 139">
              <a:extLst>
                <a:ext uri="{FF2B5EF4-FFF2-40B4-BE49-F238E27FC236}">
                  <a16:creationId xmlns:a16="http://schemas.microsoft.com/office/drawing/2014/main" id="{4C362778-3DAE-96D1-AA6E-1BBCDCD7E7E0}"/>
                </a:ext>
              </a:extLst>
            </p:cNvPr>
            <p:cNvSpPr txBox="1">
              <a:spLocks/>
            </p:cNvSpPr>
            <p:nvPr/>
          </p:nvSpPr>
          <p:spPr>
            <a:xfrm>
              <a:off x="8040822" y="1860599"/>
              <a:ext cx="1554480" cy="9144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dirty="0">
                  <a:solidFill>
                    <a:schemeClr val="bg2"/>
                  </a:solidFill>
                </a:rPr>
                <a:t>Performance Evaluation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021B4E7-EC09-6AA4-1039-9634BB07AB78}"/>
                </a:ext>
              </a:extLst>
            </p:cNvPr>
            <p:cNvCxnSpPr>
              <a:cxnSpLocks/>
              <a:stCxn id="2" idx="3"/>
              <a:endCxn id="9" idx="1"/>
            </p:cNvCxnSpPr>
            <p:nvPr/>
          </p:nvCxnSpPr>
          <p:spPr>
            <a:xfrm>
              <a:off x="2025396" y="2321799"/>
              <a:ext cx="338991" cy="1"/>
            </a:xfrm>
            <a:prstGeom prst="straightConnector1">
              <a:avLst/>
            </a:prstGeom>
            <a:ln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978F6BD-0C7B-4A8A-8CC3-FAE974054025}"/>
                </a:ext>
              </a:extLst>
            </p:cNvPr>
            <p:cNvCxnSpPr>
              <a:cxnSpLocks/>
              <a:stCxn id="9" idx="3"/>
              <a:endCxn id="14" idx="1"/>
            </p:cNvCxnSpPr>
            <p:nvPr/>
          </p:nvCxnSpPr>
          <p:spPr>
            <a:xfrm flipV="1">
              <a:off x="3918867" y="2321799"/>
              <a:ext cx="338991" cy="1"/>
            </a:xfrm>
            <a:prstGeom prst="straightConnector1">
              <a:avLst/>
            </a:prstGeom>
            <a:ln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D2F6822-A73C-B421-696B-5ADF5C9582BC}"/>
                </a:ext>
              </a:extLst>
            </p:cNvPr>
            <p:cNvCxnSpPr>
              <a:cxnSpLocks/>
              <a:stCxn id="14" idx="3"/>
              <a:endCxn id="19" idx="1"/>
            </p:cNvCxnSpPr>
            <p:nvPr/>
          </p:nvCxnSpPr>
          <p:spPr>
            <a:xfrm flipV="1">
              <a:off x="5812338" y="2319799"/>
              <a:ext cx="337002" cy="2000"/>
            </a:xfrm>
            <a:prstGeom prst="straightConnector1">
              <a:avLst/>
            </a:prstGeom>
            <a:ln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D1FEE38F-BA6C-4874-3D4D-8C6A3361C88F}"/>
                </a:ext>
              </a:extLst>
            </p:cNvPr>
            <p:cNvCxnSpPr>
              <a:cxnSpLocks/>
              <a:stCxn id="19" idx="3"/>
              <a:endCxn id="24" idx="1"/>
            </p:cNvCxnSpPr>
            <p:nvPr/>
          </p:nvCxnSpPr>
          <p:spPr>
            <a:xfrm flipV="1">
              <a:off x="7703820" y="2317799"/>
              <a:ext cx="337002" cy="2000"/>
            </a:xfrm>
            <a:prstGeom prst="straightConnector1">
              <a:avLst/>
            </a:prstGeom>
            <a:ln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 Placeholder 139">
              <a:extLst>
                <a:ext uri="{FF2B5EF4-FFF2-40B4-BE49-F238E27FC236}">
                  <a16:creationId xmlns:a16="http://schemas.microsoft.com/office/drawing/2014/main" id="{4060F911-3011-7481-4659-E567448D17C1}"/>
                </a:ext>
              </a:extLst>
            </p:cNvPr>
            <p:cNvSpPr txBox="1">
              <a:spLocks/>
            </p:cNvSpPr>
            <p:nvPr/>
          </p:nvSpPr>
          <p:spPr>
            <a:xfrm>
              <a:off x="9932304" y="1860599"/>
              <a:ext cx="1554480" cy="914400"/>
            </a:xfrm>
            <a:prstGeom prst="rect">
              <a:avLst/>
            </a:prstGeom>
            <a:solidFill>
              <a:srgbClr val="202C29"/>
            </a:solidFill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dirty="0">
                  <a:solidFill>
                    <a:schemeClr val="bg2"/>
                  </a:solidFill>
                </a:rPr>
                <a:t>Future Directions</a:t>
              </a: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449FC237-CCE6-6EC4-277B-170AAFB7B439}"/>
                </a:ext>
              </a:extLst>
            </p:cNvPr>
            <p:cNvCxnSpPr>
              <a:cxnSpLocks/>
              <a:stCxn id="24" idx="3"/>
              <a:endCxn id="62" idx="1"/>
            </p:cNvCxnSpPr>
            <p:nvPr/>
          </p:nvCxnSpPr>
          <p:spPr>
            <a:xfrm>
              <a:off x="9595302" y="2317799"/>
              <a:ext cx="337002" cy="0"/>
            </a:xfrm>
            <a:prstGeom prst="straightConnector1">
              <a:avLst/>
            </a:prstGeom>
            <a:ln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5" name="Text Placeholder 144">
            <a:extLst>
              <a:ext uri="{FF2B5EF4-FFF2-40B4-BE49-F238E27FC236}">
                <a16:creationId xmlns:a16="http://schemas.microsoft.com/office/drawing/2014/main" id="{BD323319-158B-24BE-F899-151006930D87}"/>
              </a:ext>
            </a:extLst>
          </p:cNvPr>
          <p:cNvSpPr txBox="1">
            <a:spLocks/>
          </p:cNvSpPr>
          <p:nvPr/>
        </p:nvSpPr>
        <p:spPr>
          <a:xfrm>
            <a:off x="9932304" y="3391011"/>
            <a:ext cx="1554480" cy="25830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Explore domain adaptation and explainable AI techniques for enhanced robustness.</a:t>
            </a:r>
          </a:p>
        </p:txBody>
      </p:sp>
      <p:sp>
        <p:nvSpPr>
          <p:cNvPr id="86" name="Title 2">
            <a:extLst>
              <a:ext uri="{FF2B5EF4-FFF2-40B4-BE49-F238E27FC236}">
                <a16:creationId xmlns:a16="http://schemas.microsoft.com/office/drawing/2014/main" id="{562CC2DC-1E18-EF67-3D42-29F2A2A41BFF}"/>
              </a:ext>
            </a:extLst>
          </p:cNvPr>
          <p:cNvSpPr txBox="1">
            <a:spLocks/>
          </p:cNvSpPr>
          <p:nvPr/>
        </p:nvSpPr>
        <p:spPr>
          <a:xfrm>
            <a:off x="413468" y="364831"/>
            <a:ext cx="8693515" cy="867242"/>
          </a:xfrm>
          <a:prstGeom prst="rect">
            <a:avLst/>
          </a:prstGeom>
        </p:spPr>
        <p:txBody>
          <a:bodyPr vert="horz" lIns="91440" tIns="45720" rIns="91440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Source Sans"/>
              </a:rPr>
              <a:t>Methodology </a:t>
            </a:r>
            <a:r>
              <a:rPr lang="ko-KR" altLang="en-US" dirty="0"/>
              <a:t>방법론</a:t>
            </a:r>
            <a:endParaRPr lang="en-US" dirty="0">
              <a:latin typeface="Source San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02E5C6-8501-08A2-619A-311F11568C14}"/>
              </a:ext>
            </a:extLst>
          </p:cNvPr>
          <p:cNvSpPr txBox="1"/>
          <p:nvPr/>
        </p:nvSpPr>
        <p:spPr>
          <a:xfrm>
            <a:off x="7462310" y="5834502"/>
            <a:ext cx="40244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200" i="1" dirty="0"/>
              <a:t>그림 </a:t>
            </a:r>
            <a:r>
              <a:rPr lang="en-US" altLang="ko-KR" sz="1200" i="1" dirty="0"/>
              <a:t>2. </a:t>
            </a:r>
            <a:r>
              <a:rPr lang="ko-KR" altLang="en-US" sz="1200" i="1" dirty="0"/>
              <a:t>과일 품질 감지를 위한 순서도</a:t>
            </a:r>
            <a:r>
              <a:rPr lang="en-US" sz="1200" i="1" dirty="0"/>
              <a:t>.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A9155F7-B051-7693-CBCB-24007D0371FA}"/>
              </a:ext>
            </a:extLst>
          </p:cNvPr>
          <p:cNvSpPr txBox="1"/>
          <p:nvPr/>
        </p:nvSpPr>
        <p:spPr>
          <a:xfrm>
            <a:off x="415521" y="6179507"/>
            <a:ext cx="6071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/>
              <a:t>* All the icons from </a:t>
            </a:r>
            <a:r>
              <a:rPr lang="en-US" sz="1200" i="1" dirty="0">
                <a:hlinkClick r:id="rId4"/>
              </a:rPr>
              <a:t>https://www.dreamstime.com/illustration/machine-learning-icon.html</a:t>
            </a:r>
            <a:endParaRPr lang="en-US" sz="1200" i="1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DB70F52-7EF8-D07C-BCB6-4088B9887E7A}"/>
              </a:ext>
            </a:extLst>
          </p:cNvPr>
          <p:cNvSpPr txBox="1"/>
          <p:nvPr/>
        </p:nvSpPr>
        <p:spPr>
          <a:xfrm>
            <a:off x="1634892" y="4742053"/>
            <a:ext cx="249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800" i="1" dirty="0"/>
              <a:t>*</a:t>
            </a:r>
            <a:r>
              <a:rPr lang="en-US" sz="1800" i="1" dirty="0"/>
              <a:t> </a:t>
            </a:r>
            <a:endParaRPr 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DFB9C93-E91D-DF5A-B046-37CCCB61C854}"/>
              </a:ext>
            </a:extLst>
          </p:cNvPr>
          <p:cNvSpPr txBox="1"/>
          <p:nvPr/>
        </p:nvSpPr>
        <p:spPr>
          <a:xfrm>
            <a:off x="3562410" y="4694116"/>
            <a:ext cx="249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800" i="1" dirty="0"/>
              <a:t>*</a:t>
            </a:r>
            <a:r>
              <a:rPr lang="en-US" sz="1800" i="1" dirty="0"/>
              <a:t> 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2EABEF3-096A-067D-2332-90F7DF6BFFF4}"/>
              </a:ext>
            </a:extLst>
          </p:cNvPr>
          <p:cNvSpPr txBox="1"/>
          <p:nvPr/>
        </p:nvSpPr>
        <p:spPr>
          <a:xfrm>
            <a:off x="5373521" y="4688088"/>
            <a:ext cx="249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800" i="1" dirty="0"/>
              <a:t>*</a:t>
            </a:r>
            <a:r>
              <a:rPr lang="en-US" sz="1800" i="1" dirty="0"/>
              <a:t> </a:t>
            </a:r>
            <a:endParaRPr 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9F5271F-96BC-6F74-DE8D-F13F27FC141E}"/>
              </a:ext>
            </a:extLst>
          </p:cNvPr>
          <p:cNvSpPr txBox="1"/>
          <p:nvPr/>
        </p:nvSpPr>
        <p:spPr>
          <a:xfrm>
            <a:off x="7271863" y="4785987"/>
            <a:ext cx="249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800" i="1" dirty="0"/>
              <a:t>*</a:t>
            </a:r>
            <a:r>
              <a:rPr lang="en-US" sz="1800" i="1" dirty="0"/>
              <a:t> </a:t>
            </a:r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35B53AC-6E88-B09E-9075-A3A96CFEFC2C}"/>
              </a:ext>
            </a:extLst>
          </p:cNvPr>
          <p:cNvSpPr txBox="1"/>
          <p:nvPr/>
        </p:nvSpPr>
        <p:spPr>
          <a:xfrm>
            <a:off x="9106984" y="4771100"/>
            <a:ext cx="249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800" i="1" dirty="0"/>
              <a:t>*</a:t>
            </a:r>
            <a:r>
              <a:rPr lang="en-US" sz="1800" i="1" dirty="0"/>
              <a:t> </a:t>
            </a:r>
            <a:endParaRPr 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76967DB-F1FF-4B49-A574-81A4A9FC4C4F}"/>
              </a:ext>
            </a:extLst>
          </p:cNvPr>
          <p:cNvSpPr txBox="1"/>
          <p:nvPr/>
        </p:nvSpPr>
        <p:spPr>
          <a:xfrm>
            <a:off x="10902370" y="4742053"/>
            <a:ext cx="249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800" i="1" dirty="0"/>
              <a:t>*</a:t>
            </a:r>
            <a:r>
              <a:rPr lang="en-US" sz="1800" i="1" dirty="0"/>
              <a:t> </a:t>
            </a:r>
            <a:endParaRPr lang="en-US" dirty="0"/>
          </a:p>
        </p:txBody>
      </p:sp>
      <p:sp>
        <p:nvSpPr>
          <p:cNvPr id="99" name="Slide Number Placeholder 98">
            <a:extLst>
              <a:ext uri="{FF2B5EF4-FFF2-40B4-BE49-F238E27FC236}">
                <a16:creationId xmlns:a16="http://schemas.microsoft.com/office/drawing/2014/main" id="{57B780C6-0E4D-54FC-B308-25ECA58A40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DA814CF-9C98-1249-5E6A-214889F77F99}"/>
              </a:ext>
            </a:extLst>
          </p:cNvPr>
          <p:cNvGrpSpPr/>
          <p:nvPr/>
        </p:nvGrpSpPr>
        <p:grpSpPr>
          <a:xfrm>
            <a:off x="470916" y="2161639"/>
            <a:ext cx="11015868" cy="918401"/>
            <a:chOff x="470916" y="1860599"/>
            <a:chExt cx="11015868" cy="918401"/>
          </a:xfrm>
        </p:grpSpPr>
        <p:sp>
          <p:nvSpPr>
            <p:cNvPr id="5" name="Text Placeholder 135">
              <a:extLst>
                <a:ext uri="{FF2B5EF4-FFF2-40B4-BE49-F238E27FC236}">
                  <a16:creationId xmlns:a16="http://schemas.microsoft.com/office/drawing/2014/main" id="{9F4016CB-D429-FC11-5610-C1587D8FEF3A}"/>
                </a:ext>
              </a:extLst>
            </p:cNvPr>
            <p:cNvSpPr txBox="1">
              <a:spLocks/>
            </p:cNvSpPr>
            <p:nvPr/>
          </p:nvSpPr>
          <p:spPr>
            <a:xfrm>
              <a:off x="470916" y="1864599"/>
              <a:ext cx="1554480" cy="9144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ko-KR" altLang="en-US" sz="1800" dirty="0"/>
                <a:t>데이터 수집 및 전처리</a:t>
              </a:r>
              <a:endParaRPr lang="en-US" sz="1800" dirty="0"/>
            </a:p>
          </p:txBody>
        </p:sp>
        <p:sp>
          <p:nvSpPr>
            <p:cNvPr id="6" name="Text Placeholder 136">
              <a:extLst>
                <a:ext uri="{FF2B5EF4-FFF2-40B4-BE49-F238E27FC236}">
                  <a16:creationId xmlns:a16="http://schemas.microsoft.com/office/drawing/2014/main" id="{C7692F41-2204-449E-28EE-65D787876345}"/>
                </a:ext>
              </a:extLst>
            </p:cNvPr>
            <p:cNvSpPr txBox="1">
              <a:spLocks/>
            </p:cNvSpPr>
            <p:nvPr/>
          </p:nvSpPr>
          <p:spPr>
            <a:xfrm>
              <a:off x="2364387" y="1864600"/>
              <a:ext cx="1554480" cy="9144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ko-KR" altLang="en-US" sz="1800"/>
                <a:t>모델 아키텍처</a:t>
              </a:r>
              <a:endParaRPr lang="en-US" sz="1800" dirty="0"/>
            </a:p>
          </p:txBody>
        </p:sp>
        <p:sp>
          <p:nvSpPr>
            <p:cNvPr id="7" name="Text Placeholder 137">
              <a:extLst>
                <a:ext uri="{FF2B5EF4-FFF2-40B4-BE49-F238E27FC236}">
                  <a16:creationId xmlns:a16="http://schemas.microsoft.com/office/drawing/2014/main" id="{25447980-5143-61A0-69EB-E6E4C70622F0}"/>
                </a:ext>
              </a:extLst>
            </p:cNvPr>
            <p:cNvSpPr txBox="1">
              <a:spLocks/>
            </p:cNvSpPr>
            <p:nvPr/>
          </p:nvSpPr>
          <p:spPr>
            <a:xfrm>
              <a:off x="4257858" y="1864599"/>
              <a:ext cx="1554480" cy="9144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ko-KR" altLang="en-US" sz="1800" dirty="0"/>
                <a:t>하이퍼파라미터 튜닝</a:t>
              </a:r>
              <a:endParaRPr lang="en-US" sz="1800" dirty="0"/>
            </a:p>
          </p:txBody>
        </p:sp>
        <p:sp>
          <p:nvSpPr>
            <p:cNvPr id="8" name="Text Placeholder 138">
              <a:extLst>
                <a:ext uri="{FF2B5EF4-FFF2-40B4-BE49-F238E27FC236}">
                  <a16:creationId xmlns:a16="http://schemas.microsoft.com/office/drawing/2014/main" id="{72E9A202-D08A-1C44-406C-4110E73CC91B}"/>
                </a:ext>
              </a:extLst>
            </p:cNvPr>
            <p:cNvSpPr txBox="1">
              <a:spLocks/>
            </p:cNvSpPr>
            <p:nvPr/>
          </p:nvSpPr>
          <p:spPr>
            <a:xfrm>
              <a:off x="6149340" y="1860599"/>
              <a:ext cx="1554480" cy="9184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ko-KR" altLang="en-US" sz="1800" dirty="0">
                  <a:solidFill>
                    <a:schemeClr val="bg2">
                      <a:lumMod val="90000"/>
                    </a:schemeClr>
                  </a:solidFill>
                </a:rPr>
                <a:t>모델 학습</a:t>
              </a:r>
              <a:endParaRPr lang="en-US" sz="1800" dirty="0">
                <a:solidFill>
                  <a:schemeClr val="bg2">
                    <a:lumMod val="90000"/>
                  </a:schemeClr>
                </a:solidFill>
              </a:endParaRPr>
            </a:p>
          </p:txBody>
        </p:sp>
        <p:sp>
          <p:nvSpPr>
            <p:cNvPr id="11" name="Text Placeholder 139">
              <a:extLst>
                <a:ext uri="{FF2B5EF4-FFF2-40B4-BE49-F238E27FC236}">
                  <a16:creationId xmlns:a16="http://schemas.microsoft.com/office/drawing/2014/main" id="{F5C5B7B6-2E02-EDE3-D14C-C63C73F52C71}"/>
                </a:ext>
              </a:extLst>
            </p:cNvPr>
            <p:cNvSpPr txBox="1">
              <a:spLocks/>
            </p:cNvSpPr>
            <p:nvPr/>
          </p:nvSpPr>
          <p:spPr>
            <a:xfrm>
              <a:off x="8040822" y="1860599"/>
              <a:ext cx="1554480" cy="9144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ko-KR" altLang="en-US" sz="1800" dirty="0">
                  <a:solidFill>
                    <a:schemeClr val="bg2">
                      <a:lumMod val="90000"/>
                    </a:schemeClr>
                  </a:solidFill>
                </a:rPr>
                <a:t>성능 평가</a:t>
              </a:r>
              <a:endParaRPr lang="en-US" sz="1800" dirty="0">
                <a:solidFill>
                  <a:schemeClr val="bg2">
                    <a:lumMod val="90000"/>
                  </a:schemeClr>
                </a:solidFill>
              </a:endParaRPr>
            </a:p>
          </p:txBody>
        </p:sp>
        <p:sp>
          <p:nvSpPr>
            <p:cNvPr id="18" name="Text Placeholder 139">
              <a:extLst>
                <a:ext uri="{FF2B5EF4-FFF2-40B4-BE49-F238E27FC236}">
                  <a16:creationId xmlns:a16="http://schemas.microsoft.com/office/drawing/2014/main" id="{F2C46258-BB42-988E-A3A1-F095DEDCFC55}"/>
                </a:ext>
              </a:extLst>
            </p:cNvPr>
            <p:cNvSpPr txBox="1">
              <a:spLocks/>
            </p:cNvSpPr>
            <p:nvPr/>
          </p:nvSpPr>
          <p:spPr>
            <a:xfrm>
              <a:off x="9932304" y="1860599"/>
              <a:ext cx="1554480" cy="914400"/>
            </a:xfrm>
            <a:prstGeom prst="rect">
              <a:avLst/>
            </a:prstGeom>
            <a:solidFill>
              <a:srgbClr val="202C29"/>
            </a:solidFill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ko-KR" altLang="en-US" sz="1800" dirty="0">
                  <a:solidFill>
                    <a:schemeClr val="bg2"/>
                  </a:solidFill>
                </a:rPr>
                <a:t>향후 방향</a:t>
              </a:r>
              <a:endParaRPr lang="en-US" sz="1800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121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1B762-0D02-5E1C-CADF-A5FE177BA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0">
            <a:extLst>
              <a:ext uri="{FF2B5EF4-FFF2-40B4-BE49-F238E27FC236}">
                <a16:creationId xmlns:a16="http://schemas.microsoft.com/office/drawing/2014/main" id="{CFA8DDFC-A31E-099C-70F2-AE531DE2BF5F}"/>
              </a:ext>
            </a:extLst>
          </p:cNvPr>
          <p:cNvSpPr txBox="1">
            <a:spLocks/>
          </p:cNvSpPr>
          <p:nvPr/>
        </p:nvSpPr>
        <p:spPr>
          <a:xfrm>
            <a:off x="470916" y="3391012"/>
            <a:ext cx="1554480" cy="25830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Collect diverse datasets and standardize images through resizing and normalization</a:t>
            </a:r>
          </a:p>
        </p:txBody>
      </p:sp>
      <p:sp>
        <p:nvSpPr>
          <p:cNvPr id="10" name="Text Placeholder 141">
            <a:extLst>
              <a:ext uri="{FF2B5EF4-FFF2-40B4-BE49-F238E27FC236}">
                <a16:creationId xmlns:a16="http://schemas.microsoft.com/office/drawing/2014/main" id="{B1A83DBD-AA97-DC7B-377C-0236A3BE43D1}"/>
              </a:ext>
            </a:extLst>
          </p:cNvPr>
          <p:cNvSpPr txBox="1">
            <a:spLocks/>
          </p:cNvSpPr>
          <p:nvPr/>
        </p:nvSpPr>
        <p:spPr>
          <a:xfrm>
            <a:off x="2364388" y="3391011"/>
            <a:ext cx="1554480" cy="25830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Choose pre-trained CNN and adapt it for binary classification task.</a:t>
            </a:r>
          </a:p>
        </p:txBody>
      </p:sp>
      <p:sp>
        <p:nvSpPr>
          <p:cNvPr id="15" name="Text Placeholder 142">
            <a:extLst>
              <a:ext uri="{FF2B5EF4-FFF2-40B4-BE49-F238E27FC236}">
                <a16:creationId xmlns:a16="http://schemas.microsoft.com/office/drawing/2014/main" id="{B373A4F0-E332-BCE3-B81A-8F660933153F}"/>
              </a:ext>
            </a:extLst>
          </p:cNvPr>
          <p:cNvSpPr txBox="1">
            <a:spLocks/>
          </p:cNvSpPr>
          <p:nvPr/>
        </p:nvSpPr>
        <p:spPr>
          <a:xfrm>
            <a:off x="4257858" y="3391012"/>
            <a:ext cx="1554480" cy="2583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Determine optimal learning rate, batch size, dropout rate, and epochs.</a:t>
            </a:r>
          </a:p>
        </p:txBody>
      </p:sp>
      <p:sp>
        <p:nvSpPr>
          <p:cNvPr id="20" name="Text Placeholder 143">
            <a:extLst>
              <a:ext uri="{FF2B5EF4-FFF2-40B4-BE49-F238E27FC236}">
                <a16:creationId xmlns:a16="http://schemas.microsoft.com/office/drawing/2014/main" id="{D6164C55-E65A-AC96-F352-E487688400A4}"/>
              </a:ext>
            </a:extLst>
          </p:cNvPr>
          <p:cNvSpPr txBox="1">
            <a:spLocks/>
          </p:cNvSpPr>
          <p:nvPr/>
        </p:nvSpPr>
        <p:spPr>
          <a:xfrm>
            <a:off x="6149340" y="3391012"/>
            <a:ext cx="1554480" cy="25830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Train the model using appropriate loss function and optimizer with early stopping.</a:t>
            </a:r>
          </a:p>
        </p:txBody>
      </p:sp>
      <p:sp>
        <p:nvSpPr>
          <p:cNvPr id="25" name="Text Placeholder 144">
            <a:extLst>
              <a:ext uri="{FF2B5EF4-FFF2-40B4-BE49-F238E27FC236}">
                <a16:creationId xmlns:a16="http://schemas.microsoft.com/office/drawing/2014/main" id="{BB952F6B-E3EE-9DC1-6066-C6957EACC95E}"/>
              </a:ext>
            </a:extLst>
          </p:cNvPr>
          <p:cNvSpPr txBox="1">
            <a:spLocks/>
          </p:cNvSpPr>
          <p:nvPr/>
        </p:nvSpPr>
        <p:spPr>
          <a:xfrm>
            <a:off x="8040822" y="3391011"/>
            <a:ext cx="1554480" cy="25830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Assess generalization performance using accuracy, precision, recall, and F1-score.</a:t>
            </a:r>
          </a:p>
        </p:txBody>
      </p:sp>
      <p:pic>
        <p:nvPicPr>
          <p:cNvPr id="27" name="Picture Placeholder 121" descr="Door Open outline">
            <a:extLst>
              <a:ext uri="{FF2B5EF4-FFF2-40B4-BE49-F238E27FC236}">
                <a16:creationId xmlns:a16="http://schemas.microsoft.com/office/drawing/2014/main" id="{B6F219A6-F760-1C00-C63B-7FEEA8D44A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99038" y="4513453"/>
            <a:ext cx="457200" cy="457200"/>
          </a:xfrm>
          <a:prstGeom prst="ellipse">
            <a:avLst/>
          </a:prstGeom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C1FE1BEF-1068-EF28-2B97-F396F9B9ABB9}"/>
              </a:ext>
            </a:extLst>
          </p:cNvPr>
          <p:cNvGrpSpPr/>
          <p:nvPr/>
        </p:nvGrpSpPr>
        <p:grpSpPr>
          <a:xfrm>
            <a:off x="470916" y="1325763"/>
            <a:ext cx="11015868" cy="918401"/>
            <a:chOff x="470916" y="1860599"/>
            <a:chExt cx="11015868" cy="918401"/>
          </a:xfrm>
        </p:grpSpPr>
        <p:sp>
          <p:nvSpPr>
            <p:cNvPr id="2" name="Text Placeholder 135">
              <a:extLst>
                <a:ext uri="{FF2B5EF4-FFF2-40B4-BE49-F238E27FC236}">
                  <a16:creationId xmlns:a16="http://schemas.microsoft.com/office/drawing/2014/main" id="{4B59C341-D9BC-724B-3F5E-168761C79318}"/>
                </a:ext>
              </a:extLst>
            </p:cNvPr>
            <p:cNvSpPr txBox="1">
              <a:spLocks/>
            </p:cNvSpPr>
            <p:nvPr/>
          </p:nvSpPr>
          <p:spPr>
            <a:xfrm>
              <a:off x="470916" y="1864599"/>
              <a:ext cx="1554480" cy="9144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dirty="0"/>
                <a:t>Data Collection and Preprocessing</a:t>
              </a:r>
            </a:p>
          </p:txBody>
        </p:sp>
        <p:sp>
          <p:nvSpPr>
            <p:cNvPr id="9" name="Text Placeholder 136">
              <a:extLst>
                <a:ext uri="{FF2B5EF4-FFF2-40B4-BE49-F238E27FC236}">
                  <a16:creationId xmlns:a16="http://schemas.microsoft.com/office/drawing/2014/main" id="{93348999-7C24-AF6A-E614-A143136920D9}"/>
                </a:ext>
              </a:extLst>
            </p:cNvPr>
            <p:cNvSpPr txBox="1">
              <a:spLocks/>
            </p:cNvSpPr>
            <p:nvPr/>
          </p:nvSpPr>
          <p:spPr>
            <a:xfrm>
              <a:off x="2364387" y="1864600"/>
              <a:ext cx="1554480" cy="9144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dirty="0"/>
                <a:t>Model Architecture</a:t>
              </a:r>
            </a:p>
          </p:txBody>
        </p:sp>
        <p:sp>
          <p:nvSpPr>
            <p:cNvPr id="14" name="Text Placeholder 137">
              <a:extLst>
                <a:ext uri="{FF2B5EF4-FFF2-40B4-BE49-F238E27FC236}">
                  <a16:creationId xmlns:a16="http://schemas.microsoft.com/office/drawing/2014/main" id="{D3880A6D-0F2F-A79A-12D7-EE7538AD5B7E}"/>
                </a:ext>
              </a:extLst>
            </p:cNvPr>
            <p:cNvSpPr txBox="1">
              <a:spLocks/>
            </p:cNvSpPr>
            <p:nvPr/>
          </p:nvSpPr>
          <p:spPr>
            <a:xfrm>
              <a:off x="4257858" y="1864599"/>
              <a:ext cx="1554480" cy="9144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dirty="0"/>
                <a:t>Hyper parameter Tuning</a:t>
              </a:r>
            </a:p>
          </p:txBody>
        </p:sp>
        <p:sp>
          <p:nvSpPr>
            <p:cNvPr id="19" name="Text Placeholder 138">
              <a:extLst>
                <a:ext uri="{FF2B5EF4-FFF2-40B4-BE49-F238E27FC236}">
                  <a16:creationId xmlns:a16="http://schemas.microsoft.com/office/drawing/2014/main" id="{AA3CAE50-2DEE-301F-3102-10A957934057}"/>
                </a:ext>
              </a:extLst>
            </p:cNvPr>
            <p:cNvSpPr txBox="1">
              <a:spLocks/>
            </p:cNvSpPr>
            <p:nvPr/>
          </p:nvSpPr>
          <p:spPr>
            <a:xfrm>
              <a:off x="6149340" y="1860599"/>
              <a:ext cx="1554480" cy="9184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dirty="0">
                  <a:solidFill>
                    <a:schemeClr val="bg2"/>
                  </a:solidFill>
                </a:rPr>
                <a:t>Model Training</a:t>
              </a:r>
            </a:p>
          </p:txBody>
        </p:sp>
        <p:sp>
          <p:nvSpPr>
            <p:cNvPr id="24" name="Text Placeholder 139">
              <a:extLst>
                <a:ext uri="{FF2B5EF4-FFF2-40B4-BE49-F238E27FC236}">
                  <a16:creationId xmlns:a16="http://schemas.microsoft.com/office/drawing/2014/main" id="{54A81044-2024-0DAE-067A-2D06AEB3DB87}"/>
                </a:ext>
              </a:extLst>
            </p:cNvPr>
            <p:cNvSpPr txBox="1">
              <a:spLocks/>
            </p:cNvSpPr>
            <p:nvPr/>
          </p:nvSpPr>
          <p:spPr>
            <a:xfrm>
              <a:off x="8040822" y="1860599"/>
              <a:ext cx="1554480" cy="9144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dirty="0">
                  <a:solidFill>
                    <a:schemeClr val="bg2"/>
                  </a:solidFill>
                </a:rPr>
                <a:t>Performance Evaluation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0118CDD-FE19-6679-8E79-6189EB758D1F}"/>
                </a:ext>
              </a:extLst>
            </p:cNvPr>
            <p:cNvCxnSpPr>
              <a:cxnSpLocks/>
              <a:stCxn id="2" idx="3"/>
              <a:endCxn id="9" idx="1"/>
            </p:cNvCxnSpPr>
            <p:nvPr/>
          </p:nvCxnSpPr>
          <p:spPr>
            <a:xfrm>
              <a:off x="2025396" y="2321799"/>
              <a:ext cx="338991" cy="1"/>
            </a:xfrm>
            <a:prstGeom prst="straightConnector1">
              <a:avLst/>
            </a:prstGeom>
            <a:ln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8EC6FC6-C713-0FA4-B9A1-93D439A87D4A}"/>
                </a:ext>
              </a:extLst>
            </p:cNvPr>
            <p:cNvCxnSpPr>
              <a:cxnSpLocks/>
              <a:stCxn id="9" idx="3"/>
              <a:endCxn id="14" idx="1"/>
            </p:cNvCxnSpPr>
            <p:nvPr/>
          </p:nvCxnSpPr>
          <p:spPr>
            <a:xfrm flipV="1">
              <a:off x="3918867" y="2321799"/>
              <a:ext cx="338991" cy="1"/>
            </a:xfrm>
            <a:prstGeom prst="straightConnector1">
              <a:avLst/>
            </a:prstGeom>
            <a:ln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712F59B-A78E-0101-AA02-9B495B470140}"/>
                </a:ext>
              </a:extLst>
            </p:cNvPr>
            <p:cNvCxnSpPr>
              <a:cxnSpLocks/>
              <a:stCxn id="14" idx="3"/>
              <a:endCxn id="19" idx="1"/>
            </p:cNvCxnSpPr>
            <p:nvPr/>
          </p:nvCxnSpPr>
          <p:spPr>
            <a:xfrm flipV="1">
              <a:off x="5812338" y="2319799"/>
              <a:ext cx="337002" cy="2000"/>
            </a:xfrm>
            <a:prstGeom prst="straightConnector1">
              <a:avLst/>
            </a:prstGeom>
            <a:ln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5854724-8ED4-A043-D0BF-09D53CBB8883}"/>
                </a:ext>
              </a:extLst>
            </p:cNvPr>
            <p:cNvCxnSpPr>
              <a:cxnSpLocks/>
              <a:stCxn id="19" idx="3"/>
              <a:endCxn id="24" idx="1"/>
            </p:cNvCxnSpPr>
            <p:nvPr/>
          </p:nvCxnSpPr>
          <p:spPr>
            <a:xfrm flipV="1">
              <a:off x="7703820" y="2317799"/>
              <a:ext cx="337002" cy="2000"/>
            </a:xfrm>
            <a:prstGeom prst="straightConnector1">
              <a:avLst/>
            </a:prstGeom>
            <a:ln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 Placeholder 139">
              <a:extLst>
                <a:ext uri="{FF2B5EF4-FFF2-40B4-BE49-F238E27FC236}">
                  <a16:creationId xmlns:a16="http://schemas.microsoft.com/office/drawing/2014/main" id="{E949B156-CCE1-8413-3043-D17868B9700D}"/>
                </a:ext>
              </a:extLst>
            </p:cNvPr>
            <p:cNvSpPr txBox="1">
              <a:spLocks/>
            </p:cNvSpPr>
            <p:nvPr/>
          </p:nvSpPr>
          <p:spPr>
            <a:xfrm>
              <a:off x="9932304" y="1860599"/>
              <a:ext cx="1554480" cy="914400"/>
            </a:xfrm>
            <a:prstGeom prst="rect">
              <a:avLst/>
            </a:prstGeom>
            <a:solidFill>
              <a:srgbClr val="202C29"/>
            </a:solidFill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dirty="0">
                  <a:solidFill>
                    <a:schemeClr val="bg2"/>
                  </a:solidFill>
                </a:rPr>
                <a:t>Future Directions</a:t>
              </a: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6FCBF30C-6FF0-152A-A899-9FE393CB6314}"/>
                </a:ext>
              </a:extLst>
            </p:cNvPr>
            <p:cNvCxnSpPr>
              <a:cxnSpLocks/>
              <a:stCxn id="24" idx="3"/>
              <a:endCxn id="62" idx="1"/>
            </p:cNvCxnSpPr>
            <p:nvPr/>
          </p:nvCxnSpPr>
          <p:spPr>
            <a:xfrm>
              <a:off x="9595302" y="2317799"/>
              <a:ext cx="337002" cy="0"/>
            </a:xfrm>
            <a:prstGeom prst="straightConnector1">
              <a:avLst/>
            </a:prstGeom>
            <a:ln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5" name="Text Placeholder 144">
            <a:extLst>
              <a:ext uri="{FF2B5EF4-FFF2-40B4-BE49-F238E27FC236}">
                <a16:creationId xmlns:a16="http://schemas.microsoft.com/office/drawing/2014/main" id="{BA5B302E-16E7-9696-87E4-FC68897D10C3}"/>
              </a:ext>
            </a:extLst>
          </p:cNvPr>
          <p:cNvSpPr txBox="1">
            <a:spLocks/>
          </p:cNvSpPr>
          <p:nvPr/>
        </p:nvSpPr>
        <p:spPr>
          <a:xfrm>
            <a:off x="9932304" y="3391011"/>
            <a:ext cx="1554480" cy="25830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Explore domain adaptation and explainable AI techniques for enhanced robustness.</a:t>
            </a:r>
          </a:p>
        </p:txBody>
      </p:sp>
      <p:pic>
        <p:nvPicPr>
          <p:cNvPr id="76" name="Picture 75" descr="Gallery Icon png images | PNGEgg">
            <a:extLst>
              <a:ext uri="{FF2B5EF4-FFF2-40B4-BE49-F238E27FC236}">
                <a16:creationId xmlns:a16="http://schemas.microsoft.com/office/drawing/2014/main" id="{C71979F8-7784-331F-9D80-B47297835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92460" y="4878782"/>
            <a:ext cx="1111393" cy="892176"/>
          </a:xfrm>
          <a:prstGeom prst="rect">
            <a:avLst/>
          </a:prstGeom>
        </p:spPr>
      </p:pic>
      <p:pic>
        <p:nvPicPr>
          <p:cNvPr id="77" name="Picture 76" descr="Deep-Learning Icons - Free SVG &amp; PNG Deep-Learning Images - Noun Project">
            <a:extLst>
              <a:ext uri="{FF2B5EF4-FFF2-40B4-BE49-F238E27FC236}">
                <a16:creationId xmlns:a16="http://schemas.microsoft.com/office/drawing/2014/main" id="{6BF4FBD4-31D2-1FB1-AFB2-4D7B3CBC48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5651" y="4743610"/>
            <a:ext cx="991953" cy="1015399"/>
          </a:xfrm>
          <a:prstGeom prst="rect">
            <a:avLst/>
          </a:prstGeom>
        </p:spPr>
      </p:pic>
      <p:pic>
        <p:nvPicPr>
          <p:cNvPr id="78" name="Picture 77" descr="Hyperparameter icon vector image can be used for data science | Premium  Vector">
            <a:extLst>
              <a:ext uri="{FF2B5EF4-FFF2-40B4-BE49-F238E27FC236}">
                <a16:creationId xmlns:a16="http://schemas.microsoft.com/office/drawing/2014/main" id="{2BCE6A6F-320C-5E4A-46E6-73E01E889E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866" y="4743610"/>
            <a:ext cx="1230464" cy="1230464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4666093C-EFB6-546C-0576-28ACB5E19A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2693" y="4742053"/>
            <a:ext cx="990738" cy="943107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8EF4EBAA-F874-A47B-BAF5-EE671FC86A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0711" y="4743610"/>
            <a:ext cx="1171739" cy="1095528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AA57FE32-E2C0-DFBB-C7AC-A3FA1630E8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0172090" y="4702046"/>
            <a:ext cx="1074909" cy="1158039"/>
          </a:xfrm>
          <a:prstGeom prst="rect">
            <a:avLst/>
          </a:prstGeom>
        </p:spPr>
      </p:pic>
      <p:sp>
        <p:nvSpPr>
          <p:cNvPr id="86" name="Title 2">
            <a:extLst>
              <a:ext uri="{FF2B5EF4-FFF2-40B4-BE49-F238E27FC236}">
                <a16:creationId xmlns:a16="http://schemas.microsoft.com/office/drawing/2014/main" id="{DA4F094A-36F7-3EF1-C203-F0C7C5E1662A}"/>
              </a:ext>
            </a:extLst>
          </p:cNvPr>
          <p:cNvSpPr txBox="1">
            <a:spLocks/>
          </p:cNvSpPr>
          <p:nvPr/>
        </p:nvSpPr>
        <p:spPr>
          <a:xfrm>
            <a:off x="413468" y="364831"/>
            <a:ext cx="8693515" cy="867242"/>
          </a:xfrm>
          <a:prstGeom prst="rect">
            <a:avLst/>
          </a:prstGeom>
        </p:spPr>
        <p:txBody>
          <a:bodyPr vert="horz" lIns="91440" tIns="45720" rIns="91440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Source Sans"/>
              </a:rPr>
              <a:t>Methodology </a:t>
            </a:r>
            <a:r>
              <a:rPr lang="ko-KR" altLang="en-US" dirty="0"/>
              <a:t>방법론</a:t>
            </a:r>
            <a:endParaRPr lang="en-US" dirty="0">
              <a:latin typeface="Source San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89BAA26-C0E2-5FE6-2C9B-E56CB1385BCF}"/>
              </a:ext>
            </a:extLst>
          </p:cNvPr>
          <p:cNvSpPr txBox="1"/>
          <p:nvPr/>
        </p:nvSpPr>
        <p:spPr>
          <a:xfrm>
            <a:off x="7462310" y="5834502"/>
            <a:ext cx="40244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200" i="1" dirty="0"/>
              <a:t>그림 </a:t>
            </a:r>
            <a:r>
              <a:rPr lang="en-US" altLang="ko-KR" sz="1200" i="1" dirty="0"/>
              <a:t>2. </a:t>
            </a:r>
            <a:r>
              <a:rPr lang="ko-KR" altLang="en-US" sz="1200" i="1" dirty="0"/>
              <a:t>과일 품질 감지를 위한 순서도</a:t>
            </a:r>
            <a:r>
              <a:rPr lang="en-US" sz="1200" i="1" dirty="0"/>
              <a:t>.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D4EB0EF-0755-EDFF-5E9D-BBB9930C386C}"/>
              </a:ext>
            </a:extLst>
          </p:cNvPr>
          <p:cNvSpPr txBox="1"/>
          <p:nvPr/>
        </p:nvSpPr>
        <p:spPr>
          <a:xfrm>
            <a:off x="415521" y="6179507"/>
            <a:ext cx="6071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/>
              <a:t>* All the icons from </a:t>
            </a:r>
            <a:r>
              <a:rPr lang="en-US" sz="1200" i="1" dirty="0">
                <a:hlinkClick r:id="rId10"/>
              </a:rPr>
              <a:t>https://www.dreamstime.com/illustration/machine-learning-icon.html</a:t>
            </a:r>
            <a:endParaRPr lang="en-US" sz="1200" i="1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937846D-73CE-4F5A-70CC-5400082CB4A5}"/>
              </a:ext>
            </a:extLst>
          </p:cNvPr>
          <p:cNvSpPr txBox="1"/>
          <p:nvPr/>
        </p:nvSpPr>
        <p:spPr>
          <a:xfrm>
            <a:off x="1634892" y="4742053"/>
            <a:ext cx="249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800" i="1" dirty="0"/>
              <a:t>*</a:t>
            </a:r>
            <a:r>
              <a:rPr lang="en-US" sz="1800" i="1" dirty="0"/>
              <a:t> </a:t>
            </a:r>
            <a:endParaRPr 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5E76F6B-A730-B8A4-7209-367877FA46F0}"/>
              </a:ext>
            </a:extLst>
          </p:cNvPr>
          <p:cNvSpPr txBox="1"/>
          <p:nvPr/>
        </p:nvSpPr>
        <p:spPr>
          <a:xfrm>
            <a:off x="3562410" y="4694116"/>
            <a:ext cx="249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800" i="1" dirty="0"/>
              <a:t>*</a:t>
            </a:r>
            <a:r>
              <a:rPr lang="en-US" sz="1800" i="1" dirty="0"/>
              <a:t> 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552DE68-0C4E-AFE3-4DE7-146380DAB256}"/>
              </a:ext>
            </a:extLst>
          </p:cNvPr>
          <p:cNvSpPr txBox="1"/>
          <p:nvPr/>
        </p:nvSpPr>
        <p:spPr>
          <a:xfrm>
            <a:off x="5373521" y="4688088"/>
            <a:ext cx="249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800" i="1" dirty="0"/>
              <a:t>*</a:t>
            </a:r>
            <a:r>
              <a:rPr lang="en-US" sz="1800" i="1" dirty="0"/>
              <a:t> </a:t>
            </a:r>
            <a:endParaRPr 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13FB615-E04D-BBDA-8F4D-BCD5147774B9}"/>
              </a:ext>
            </a:extLst>
          </p:cNvPr>
          <p:cNvSpPr txBox="1"/>
          <p:nvPr/>
        </p:nvSpPr>
        <p:spPr>
          <a:xfrm>
            <a:off x="7271863" y="4785987"/>
            <a:ext cx="249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800" i="1" dirty="0"/>
              <a:t>*</a:t>
            </a:r>
            <a:r>
              <a:rPr lang="en-US" sz="1800" i="1" dirty="0"/>
              <a:t> </a:t>
            </a:r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62CD27C-7CA8-1597-9A09-D0F7C46A2C6E}"/>
              </a:ext>
            </a:extLst>
          </p:cNvPr>
          <p:cNvSpPr txBox="1"/>
          <p:nvPr/>
        </p:nvSpPr>
        <p:spPr>
          <a:xfrm>
            <a:off x="9106984" y="4771100"/>
            <a:ext cx="249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800" i="1" dirty="0"/>
              <a:t>*</a:t>
            </a:r>
            <a:r>
              <a:rPr lang="en-US" sz="1800" i="1" dirty="0"/>
              <a:t> </a:t>
            </a:r>
            <a:endParaRPr 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87C519F-91DD-1F3C-A361-0DF80E1663AC}"/>
              </a:ext>
            </a:extLst>
          </p:cNvPr>
          <p:cNvSpPr txBox="1"/>
          <p:nvPr/>
        </p:nvSpPr>
        <p:spPr>
          <a:xfrm>
            <a:off x="10902370" y="4742053"/>
            <a:ext cx="249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800" i="1" dirty="0"/>
              <a:t>*</a:t>
            </a:r>
            <a:r>
              <a:rPr lang="en-US" sz="1800" i="1" dirty="0"/>
              <a:t> </a:t>
            </a:r>
            <a:endParaRPr lang="en-US" dirty="0"/>
          </a:p>
        </p:txBody>
      </p:sp>
      <p:sp>
        <p:nvSpPr>
          <p:cNvPr id="99" name="Slide Number Placeholder 98">
            <a:extLst>
              <a:ext uri="{FF2B5EF4-FFF2-40B4-BE49-F238E27FC236}">
                <a16:creationId xmlns:a16="http://schemas.microsoft.com/office/drawing/2014/main" id="{9A5B7B5C-707E-F8F8-2C27-B74B12EC4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DBDE2CA-4AD8-A0DC-BC33-04C8A706F6C6}"/>
              </a:ext>
            </a:extLst>
          </p:cNvPr>
          <p:cNvGrpSpPr/>
          <p:nvPr/>
        </p:nvGrpSpPr>
        <p:grpSpPr>
          <a:xfrm>
            <a:off x="470916" y="2161639"/>
            <a:ext cx="11015868" cy="918401"/>
            <a:chOff x="470916" y="1860599"/>
            <a:chExt cx="11015868" cy="918401"/>
          </a:xfrm>
        </p:grpSpPr>
        <p:sp>
          <p:nvSpPr>
            <p:cNvPr id="5" name="Text Placeholder 135">
              <a:extLst>
                <a:ext uri="{FF2B5EF4-FFF2-40B4-BE49-F238E27FC236}">
                  <a16:creationId xmlns:a16="http://schemas.microsoft.com/office/drawing/2014/main" id="{CBAD32BB-BAF9-E30D-B388-A8B75BC237F7}"/>
                </a:ext>
              </a:extLst>
            </p:cNvPr>
            <p:cNvSpPr txBox="1">
              <a:spLocks/>
            </p:cNvSpPr>
            <p:nvPr/>
          </p:nvSpPr>
          <p:spPr>
            <a:xfrm>
              <a:off x="470916" y="1864599"/>
              <a:ext cx="1554480" cy="9144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ko-KR" altLang="en-US" sz="1800" dirty="0"/>
                <a:t>데이터 수집 및 전처리</a:t>
              </a:r>
              <a:endParaRPr lang="en-US" sz="1800" dirty="0"/>
            </a:p>
          </p:txBody>
        </p:sp>
        <p:sp>
          <p:nvSpPr>
            <p:cNvPr id="6" name="Text Placeholder 136">
              <a:extLst>
                <a:ext uri="{FF2B5EF4-FFF2-40B4-BE49-F238E27FC236}">
                  <a16:creationId xmlns:a16="http://schemas.microsoft.com/office/drawing/2014/main" id="{5A3F6DBA-13D3-E507-4467-5C1082287603}"/>
                </a:ext>
              </a:extLst>
            </p:cNvPr>
            <p:cNvSpPr txBox="1">
              <a:spLocks/>
            </p:cNvSpPr>
            <p:nvPr/>
          </p:nvSpPr>
          <p:spPr>
            <a:xfrm>
              <a:off x="2364387" y="1864600"/>
              <a:ext cx="1554480" cy="9144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ko-KR" altLang="en-US" sz="1800"/>
                <a:t>모델 아키텍처</a:t>
              </a:r>
              <a:endParaRPr lang="en-US" sz="1800" dirty="0"/>
            </a:p>
          </p:txBody>
        </p:sp>
        <p:sp>
          <p:nvSpPr>
            <p:cNvPr id="7" name="Text Placeholder 137">
              <a:extLst>
                <a:ext uri="{FF2B5EF4-FFF2-40B4-BE49-F238E27FC236}">
                  <a16:creationId xmlns:a16="http://schemas.microsoft.com/office/drawing/2014/main" id="{1DB93D3A-277E-53B4-CED8-8AA1D2396A65}"/>
                </a:ext>
              </a:extLst>
            </p:cNvPr>
            <p:cNvSpPr txBox="1">
              <a:spLocks/>
            </p:cNvSpPr>
            <p:nvPr/>
          </p:nvSpPr>
          <p:spPr>
            <a:xfrm>
              <a:off x="4257858" y="1864599"/>
              <a:ext cx="1554480" cy="9144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ko-KR" altLang="en-US" sz="1800" dirty="0"/>
                <a:t>하이퍼파라미터 튜닝</a:t>
              </a:r>
              <a:endParaRPr lang="en-US" sz="1800" dirty="0"/>
            </a:p>
          </p:txBody>
        </p:sp>
        <p:sp>
          <p:nvSpPr>
            <p:cNvPr id="8" name="Text Placeholder 138">
              <a:extLst>
                <a:ext uri="{FF2B5EF4-FFF2-40B4-BE49-F238E27FC236}">
                  <a16:creationId xmlns:a16="http://schemas.microsoft.com/office/drawing/2014/main" id="{0521EFDB-2A83-AD8F-E39F-B4B39E4B3D6D}"/>
                </a:ext>
              </a:extLst>
            </p:cNvPr>
            <p:cNvSpPr txBox="1">
              <a:spLocks/>
            </p:cNvSpPr>
            <p:nvPr/>
          </p:nvSpPr>
          <p:spPr>
            <a:xfrm>
              <a:off x="6149340" y="1860599"/>
              <a:ext cx="1554480" cy="9184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ko-KR" altLang="en-US" sz="1800" dirty="0">
                  <a:solidFill>
                    <a:schemeClr val="bg2">
                      <a:lumMod val="90000"/>
                    </a:schemeClr>
                  </a:solidFill>
                </a:rPr>
                <a:t>모델 학습</a:t>
              </a:r>
              <a:endParaRPr lang="en-US" sz="1800" dirty="0">
                <a:solidFill>
                  <a:schemeClr val="bg2">
                    <a:lumMod val="90000"/>
                  </a:schemeClr>
                </a:solidFill>
              </a:endParaRPr>
            </a:p>
          </p:txBody>
        </p:sp>
        <p:sp>
          <p:nvSpPr>
            <p:cNvPr id="11" name="Text Placeholder 139">
              <a:extLst>
                <a:ext uri="{FF2B5EF4-FFF2-40B4-BE49-F238E27FC236}">
                  <a16:creationId xmlns:a16="http://schemas.microsoft.com/office/drawing/2014/main" id="{FBB8DA07-615A-FBD2-52EA-9DE3298EA16F}"/>
                </a:ext>
              </a:extLst>
            </p:cNvPr>
            <p:cNvSpPr txBox="1">
              <a:spLocks/>
            </p:cNvSpPr>
            <p:nvPr/>
          </p:nvSpPr>
          <p:spPr>
            <a:xfrm>
              <a:off x="8040822" y="1860599"/>
              <a:ext cx="1554480" cy="9144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ko-KR" altLang="en-US" sz="1800" dirty="0">
                  <a:solidFill>
                    <a:schemeClr val="bg2">
                      <a:lumMod val="90000"/>
                    </a:schemeClr>
                  </a:solidFill>
                </a:rPr>
                <a:t>성능 평가</a:t>
              </a:r>
              <a:endParaRPr lang="en-US" sz="1800" dirty="0">
                <a:solidFill>
                  <a:schemeClr val="bg2">
                    <a:lumMod val="90000"/>
                  </a:schemeClr>
                </a:solidFill>
              </a:endParaRPr>
            </a:p>
          </p:txBody>
        </p:sp>
        <p:sp>
          <p:nvSpPr>
            <p:cNvPr id="18" name="Text Placeholder 139">
              <a:extLst>
                <a:ext uri="{FF2B5EF4-FFF2-40B4-BE49-F238E27FC236}">
                  <a16:creationId xmlns:a16="http://schemas.microsoft.com/office/drawing/2014/main" id="{F2EFC62E-936A-F5E6-198C-FD033B1FA2AF}"/>
                </a:ext>
              </a:extLst>
            </p:cNvPr>
            <p:cNvSpPr txBox="1">
              <a:spLocks/>
            </p:cNvSpPr>
            <p:nvPr/>
          </p:nvSpPr>
          <p:spPr>
            <a:xfrm>
              <a:off x="9932304" y="1860599"/>
              <a:ext cx="1554480" cy="914400"/>
            </a:xfrm>
            <a:prstGeom prst="rect">
              <a:avLst/>
            </a:prstGeom>
            <a:solidFill>
              <a:srgbClr val="202C29"/>
            </a:solidFill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ko-KR" altLang="en-US" sz="1800" dirty="0">
                  <a:solidFill>
                    <a:schemeClr val="bg2"/>
                  </a:solidFill>
                </a:rPr>
                <a:t>향후 방향</a:t>
              </a:r>
              <a:endParaRPr lang="en-US" sz="1800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1802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04D16-F76A-EE76-2D4A-A79C58272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19704455-D41A-1C87-0A7F-D8106F81C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469" y="364831"/>
            <a:ext cx="8345970" cy="867242"/>
          </a:xfrm>
        </p:spPr>
        <p:txBody>
          <a:bodyPr>
            <a:noAutofit/>
          </a:bodyPr>
          <a:lstStyle/>
          <a:p>
            <a:r>
              <a:rPr lang="en-US" sz="4800" dirty="0">
                <a:latin typeface="Source Sans"/>
              </a:rPr>
              <a:t>Methodology </a:t>
            </a:r>
            <a:r>
              <a:rPr lang="ko-KR" altLang="en-US" dirty="0"/>
              <a:t>방법론</a:t>
            </a:r>
            <a:endParaRPr lang="en-US" sz="4800" dirty="0">
              <a:latin typeface="Source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DDA7D-4B88-51B3-890E-2F64457B3810}"/>
              </a:ext>
            </a:extLst>
          </p:cNvPr>
          <p:cNvSpPr txBox="1"/>
          <p:nvPr/>
        </p:nvSpPr>
        <p:spPr>
          <a:xfrm>
            <a:off x="413469" y="1232073"/>
            <a:ext cx="6595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36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Source Sans"/>
              </a:rPr>
              <a:t>D</a:t>
            </a:r>
            <a:r>
              <a:rPr lang="en-US" sz="36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ource Sans"/>
              </a:rPr>
              <a:t>ataset</a:t>
            </a:r>
            <a:r>
              <a:rPr lang="en-US" sz="36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Source Sans"/>
              </a:rPr>
              <a:t> </a:t>
            </a:r>
            <a:r>
              <a:rPr lang="ko-KR" altLang="en-US" sz="3600" dirty="0"/>
              <a:t>데이터셋</a:t>
            </a:r>
            <a:endParaRPr lang="en-US" sz="3600" i="1" dirty="0"/>
          </a:p>
        </p:txBody>
      </p:sp>
      <p:graphicFrame>
        <p:nvGraphicFramePr>
          <p:cNvPr id="5" name="Table 9">
            <a:extLst>
              <a:ext uri="{FF2B5EF4-FFF2-40B4-BE49-F238E27FC236}">
                <a16:creationId xmlns:a16="http://schemas.microsoft.com/office/drawing/2014/main" id="{C741BFB1-45EB-8B96-FBA6-67C054C9A5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263698"/>
              </p:ext>
            </p:extLst>
          </p:nvPr>
        </p:nvGraphicFramePr>
        <p:xfrm>
          <a:off x="954680" y="1902319"/>
          <a:ext cx="6693807" cy="3831744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053440">
                  <a:extLst>
                    <a:ext uri="{9D8B030D-6E8A-4147-A177-3AD203B41FA5}">
                      <a16:colId xmlns:a16="http://schemas.microsoft.com/office/drawing/2014/main" val="4052646397"/>
                    </a:ext>
                  </a:extLst>
                </a:gridCol>
                <a:gridCol w="2264635">
                  <a:extLst>
                    <a:ext uri="{9D8B030D-6E8A-4147-A177-3AD203B41FA5}">
                      <a16:colId xmlns:a16="http://schemas.microsoft.com/office/drawing/2014/main" val="1935352797"/>
                    </a:ext>
                  </a:extLst>
                </a:gridCol>
                <a:gridCol w="2375732">
                  <a:extLst>
                    <a:ext uri="{9D8B030D-6E8A-4147-A177-3AD203B41FA5}">
                      <a16:colId xmlns:a16="http://schemas.microsoft.com/office/drawing/2014/main" val="1218263486"/>
                    </a:ext>
                  </a:extLst>
                </a:gridCol>
              </a:tblGrid>
              <a:tr h="531944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C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lass Label</a:t>
                      </a:r>
                    </a:p>
                    <a:p>
                      <a:pPr algn="ctr" fontAlgn="b"/>
                      <a:r>
                        <a:rPr lang="ko-KR" altLang="en-US" dirty="0"/>
                        <a:t>클래스 레이블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Source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Train Data (Images)</a:t>
                      </a:r>
                      <a:r>
                        <a:rPr lang="ko-KR" altLang="en-US" dirty="0"/>
                        <a:t> </a:t>
                      </a:r>
                      <a:endParaRPr lang="en-US" altLang="ko-KR" dirty="0"/>
                    </a:p>
                    <a:p>
                      <a:pPr algn="ctr" fontAlgn="b"/>
                      <a:r>
                        <a:rPr lang="ko-KR" altLang="en-US" dirty="0"/>
                        <a:t>학습 데이터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이미지</a:t>
                      </a:r>
                      <a:r>
                        <a:rPr lang="en-US" altLang="ko-KR" dirty="0"/>
                        <a:t>)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Source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Test Data (Images)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테스트 데이터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이미지</a:t>
                      </a:r>
                      <a:r>
                        <a:rPr lang="en-US" altLang="ko-KR" dirty="0"/>
                        <a:t>)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Source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0773105"/>
                  </a:ext>
                </a:extLst>
              </a:tr>
              <a:tr h="531944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Fresh Apples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1693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395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2911372"/>
                  </a:ext>
                </a:extLst>
              </a:tr>
              <a:tr h="531944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Fresh Banana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1581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381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3393929"/>
                  </a:ext>
                </a:extLst>
              </a:tr>
              <a:tr h="531944">
                <a:tc>
                  <a:txBody>
                    <a:bodyPr/>
                    <a:lstStyle/>
                    <a:p>
                      <a:pPr algn="ctr" fontAlgn="b"/>
                      <a:r>
                        <a:rPr lang="es-419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Fresh Orange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1466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388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711469"/>
                  </a:ext>
                </a:extLst>
              </a:tr>
              <a:tr h="5319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Rotten Apples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2342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601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8944196"/>
                  </a:ext>
                </a:extLst>
              </a:tr>
              <a:tr h="5319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Rotten Banana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2224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530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1606819"/>
                  </a:ext>
                </a:extLst>
              </a:tr>
              <a:tr h="5319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Rotten Orange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595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403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120011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AB549864-C4E7-AED2-A4F0-ED4FE4D78693}"/>
              </a:ext>
            </a:extLst>
          </p:cNvPr>
          <p:cNvGrpSpPr/>
          <p:nvPr/>
        </p:nvGrpSpPr>
        <p:grpSpPr>
          <a:xfrm>
            <a:off x="7941692" y="1977693"/>
            <a:ext cx="3019180" cy="3376420"/>
            <a:chOff x="7878081" y="380935"/>
            <a:chExt cx="3019180" cy="337642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476A3EC-3D47-CD74-4BE5-0827B3330448}"/>
                </a:ext>
              </a:extLst>
            </p:cNvPr>
            <p:cNvGrpSpPr/>
            <p:nvPr/>
          </p:nvGrpSpPr>
          <p:grpSpPr>
            <a:xfrm>
              <a:off x="7878081" y="380935"/>
              <a:ext cx="3019180" cy="3376420"/>
              <a:chOff x="7878081" y="1450022"/>
              <a:chExt cx="3019180" cy="3376420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9682BFF0-12E3-57F1-0BF7-1BF86EBA89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20375" r="37157"/>
              <a:stretch>
                <a:fillRect/>
              </a:stretch>
            </p:blipFill>
            <p:spPr>
              <a:xfrm>
                <a:off x="7878081" y="1450022"/>
                <a:ext cx="3019180" cy="2215166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4D0EE8D-D84D-7465-C874-B38D9CD662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64378" b="51167"/>
              <a:stretch>
                <a:fillRect/>
              </a:stretch>
            </p:blipFill>
            <p:spPr>
              <a:xfrm>
                <a:off x="8014914" y="3744701"/>
                <a:ext cx="2532429" cy="1081741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A545E91-6D6A-EA39-0C28-CC8C5FABD2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9509" b="51738"/>
            <a:stretch>
              <a:fillRect/>
            </a:stretch>
          </p:blipFill>
          <p:spPr>
            <a:xfrm>
              <a:off x="7878081" y="2688268"/>
              <a:ext cx="1456749" cy="1069087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500CCF2D-692D-5A50-33CE-FA88F4BD4F21}"/>
              </a:ext>
            </a:extLst>
          </p:cNvPr>
          <p:cNvSpPr txBox="1"/>
          <p:nvPr/>
        </p:nvSpPr>
        <p:spPr>
          <a:xfrm>
            <a:off x="954680" y="5734063"/>
            <a:ext cx="40244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i="1" dirty="0"/>
              <a:t>표 </a:t>
            </a:r>
            <a:r>
              <a:rPr lang="en-US" altLang="ko-KR" sz="1400" i="1" dirty="0"/>
              <a:t>2. </a:t>
            </a:r>
            <a:r>
              <a:rPr lang="ko-KR" altLang="en-US" sz="1400" i="1" dirty="0"/>
              <a:t>과일 데이터셋 레이블 분포</a:t>
            </a:r>
            <a:r>
              <a:rPr lang="en-US" altLang="ko-KR" sz="1400" i="1" dirty="0"/>
              <a:t>.</a:t>
            </a:r>
            <a:endParaRPr lang="en-US" sz="1400" i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C65857-114D-F4DA-1A41-345B7946DE9A}"/>
              </a:ext>
            </a:extLst>
          </p:cNvPr>
          <p:cNvSpPr txBox="1"/>
          <p:nvPr/>
        </p:nvSpPr>
        <p:spPr>
          <a:xfrm>
            <a:off x="8075602" y="5734063"/>
            <a:ext cx="30191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i="1" dirty="0"/>
              <a:t>그림 </a:t>
            </a:r>
            <a:r>
              <a:rPr lang="en-US" altLang="ko-KR" sz="1400" i="1" dirty="0"/>
              <a:t>3. </a:t>
            </a:r>
            <a:r>
              <a:rPr lang="ko-KR" altLang="en-US" sz="1400" i="1" dirty="0"/>
              <a:t>샘플 데이터셋 이미지</a:t>
            </a:r>
            <a:r>
              <a:rPr lang="en-US" sz="1400" i="1" dirty="0"/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14E563-F218-40E6-9C0E-C1A5E421A75D}"/>
              </a:ext>
            </a:extLst>
          </p:cNvPr>
          <p:cNvSpPr txBox="1"/>
          <p:nvPr/>
        </p:nvSpPr>
        <p:spPr>
          <a:xfrm>
            <a:off x="713762" y="6216170"/>
            <a:ext cx="69945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/>
              <a:t>* Fruit images from </a:t>
            </a:r>
            <a:r>
              <a:rPr lang="en-US" sz="1200" i="1" dirty="0">
                <a:hlinkClick r:id="rId4"/>
              </a:rPr>
              <a:t>https://www.kaggle.com/datasets/sriramr/fruits-fresh-and-rotten-for-classification</a:t>
            </a:r>
            <a:endParaRPr lang="en-US" sz="1200" i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BE8665-A60F-C68F-2F91-84FF90BF9011}"/>
              </a:ext>
            </a:extLst>
          </p:cNvPr>
          <p:cNvSpPr txBox="1"/>
          <p:nvPr/>
        </p:nvSpPr>
        <p:spPr>
          <a:xfrm>
            <a:off x="10610954" y="1793027"/>
            <a:ext cx="367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/>
              <a:t>*</a:t>
            </a:r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0266B26B-6223-89B4-4952-FC070A325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937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B019C-7E89-3D07-F2B5-B3EEDB525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44618AE2-1986-196D-1172-FB2A95E54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469" y="364831"/>
            <a:ext cx="8918538" cy="867242"/>
          </a:xfrm>
        </p:spPr>
        <p:txBody>
          <a:bodyPr>
            <a:noAutofit/>
          </a:bodyPr>
          <a:lstStyle/>
          <a:p>
            <a:r>
              <a:rPr lang="en-US" sz="4800" dirty="0">
                <a:latin typeface="Source Sans"/>
              </a:rPr>
              <a:t>Methodology </a:t>
            </a:r>
            <a:r>
              <a:rPr lang="ko-KR" altLang="en-US" dirty="0"/>
              <a:t>방법론</a:t>
            </a:r>
            <a:endParaRPr lang="en-US" sz="4800" dirty="0">
              <a:latin typeface="Source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F18B9-9B90-0592-617B-EF877B6F9C4B}"/>
              </a:ext>
            </a:extLst>
          </p:cNvPr>
          <p:cNvSpPr txBox="1"/>
          <p:nvPr/>
        </p:nvSpPr>
        <p:spPr>
          <a:xfrm>
            <a:off x="413469" y="1232073"/>
            <a:ext cx="6595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Source Sans"/>
              </a:rPr>
              <a:t>Models </a:t>
            </a:r>
            <a:r>
              <a:rPr lang="ko-KR" altLang="en-US" sz="3600" dirty="0"/>
              <a:t>모델</a:t>
            </a:r>
            <a:endParaRPr lang="en-US" sz="3600" i="1" dirty="0"/>
          </a:p>
        </p:txBody>
      </p:sp>
      <p:sp>
        <p:nvSpPr>
          <p:cNvPr id="4" name="Text Placeholder 140">
            <a:extLst>
              <a:ext uri="{FF2B5EF4-FFF2-40B4-BE49-F238E27FC236}">
                <a16:creationId xmlns:a16="http://schemas.microsoft.com/office/drawing/2014/main" id="{360E0D45-876D-3440-42DC-F97EC0CF9C60}"/>
              </a:ext>
            </a:extLst>
          </p:cNvPr>
          <p:cNvSpPr txBox="1">
            <a:spLocks/>
          </p:cNvSpPr>
          <p:nvPr/>
        </p:nvSpPr>
        <p:spPr>
          <a:xfrm>
            <a:off x="8229600" y="1878404"/>
            <a:ext cx="3497373" cy="41171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/>
              <a:t>K-Nearest Neighbors (KNN)</a:t>
            </a:r>
          </a:p>
          <a:p>
            <a:pPr marL="0" indent="0">
              <a:buNone/>
            </a:pPr>
            <a:r>
              <a:rPr lang="en-US" sz="1400" dirty="0"/>
              <a:t>K-</a:t>
            </a:r>
            <a:r>
              <a:rPr lang="ko-KR" altLang="en-US" sz="1400" dirty="0"/>
              <a:t>최근접 이웃 </a:t>
            </a:r>
            <a:r>
              <a:rPr lang="en-US" altLang="ko-KR" sz="1400" dirty="0"/>
              <a:t>(</a:t>
            </a:r>
            <a:r>
              <a:rPr lang="en-US" sz="1400" dirty="0"/>
              <a:t>KNN)</a:t>
            </a:r>
          </a:p>
          <a:p>
            <a:pPr marL="0" indent="0">
              <a:buNone/>
            </a:pPr>
            <a:r>
              <a:rPr lang="en-US" sz="1400" dirty="0"/>
              <a:t>- KNN is a non-parametric instance-based learning method.</a:t>
            </a:r>
          </a:p>
          <a:p>
            <a:pPr marL="0" indent="0">
              <a:buNone/>
            </a:pPr>
            <a:r>
              <a:rPr lang="en-US" sz="1400" dirty="0"/>
              <a:t>- It classifies new data by examining its closest neighbors in the known data.</a:t>
            </a:r>
          </a:p>
          <a:p>
            <a:pPr marL="0" indent="0">
              <a:buNone/>
            </a:pPr>
            <a:r>
              <a:rPr lang="en-US" sz="1400" dirty="0"/>
              <a:t>- Classification is based on the consensus of neighboring data points.</a:t>
            </a:r>
          </a:p>
        </p:txBody>
      </p:sp>
      <p:sp>
        <p:nvSpPr>
          <p:cNvPr id="6" name="Text Placeholder 140">
            <a:extLst>
              <a:ext uri="{FF2B5EF4-FFF2-40B4-BE49-F238E27FC236}">
                <a16:creationId xmlns:a16="http://schemas.microsoft.com/office/drawing/2014/main" id="{A48B2FA8-BF3E-1F14-F8BA-68E7CC26508D}"/>
              </a:ext>
            </a:extLst>
          </p:cNvPr>
          <p:cNvSpPr txBox="1">
            <a:spLocks/>
          </p:cNvSpPr>
          <p:nvPr/>
        </p:nvSpPr>
        <p:spPr>
          <a:xfrm>
            <a:off x="636105" y="1878404"/>
            <a:ext cx="3200400" cy="41112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/>
              <a:t>Logistic Regression (Baseline)</a:t>
            </a:r>
          </a:p>
          <a:p>
            <a:pPr marL="0" indent="0">
              <a:buNone/>
            </a:pPr>
            <a:r>
              <a:rPr lang="ko-KR" altLang="en-US" sz="1400" dirty="0"/>
              <a:t>로지스틱 회귀 </a:t>
            </a:r>
            <a:r>
              <a:rPr lang="en-US" altLang="ko-KR" sz="1400" dirty="0"/>
              <a:t>(</a:t>
            </a:r>
            <a:r>
              <a:rPr lang="ko-KR" altLang="en-US" sz="1400" dirty="0"/>
              <a:t>베이스라인</a:t>
            </a:r>
            <a:r>
              <a:rPr lang="en-US" altLang="ko-KR" sz="1400" dirty="0"/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- Linear model for binary classification tasks.</a:t>
            </a:r>
          </a:p>
          <a:p>
            <a:pPr marL="0" indent="0">
              <a:buNone/>
            </a:pPr>
            <a:r>
              <a:rPr lang="en-US" sz="1400" dirty="0"/>
              <a:t>- It serves as a primary baseline algorithm for comparison.</a:t>
            </a:r>
          </a:p>
          <a:p>
            <a:pPr marL="0" indent="0">
              <a:buNone/>
            </a:pPr>
            <a:r>
              <a:rPr lang="en-US" sz="1400" dirty="0"/>
              <a:t>- Despite its simplicity, it provides a reference point to measure improvement..</a:t>
            </a:r>
          </a:p>
        </p:txBody>
      </p:sp>
      <p:sp>
        <p:nvSpPr>
          <p:cNvPr id="7" name="Text Placeholder 140">
            <a:extLst>
              <a:ext uri="{FF2B5EF4-FFF2-40B4-BE49-F238E27FC236}">
                <a16:creationId xmlns:a16="http://schemas.microsoft.com/office/drawing/2014/main" id="{5851E68E-3179-B540-25F5-94805502E940}"/>
              </a:ext>
            </a:extLst>
          </p:cNvPr>
          <p:cNvSpPr txBox="1">
            <a:spLocks/>
          </p:cNvSpPr>
          <p:nvPr/>
        </p:nvSpPr>
        <p:spPr>
          <a:xfrm>
            <a:off x="4508389" y="1878404"/>
            <a:ext cx="3200400" cy="41171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/>
              <a:t>VGG16 (Visual Geometry Group 16)</a:t>
            </a:r>
          </a:p>
          <a:p>
            <a:pPr marL="0" indent="0">
              <a:buNone/>
            </a:pPr>
            <a:r>
              <a:rPr lang="en-US" sz="1400" dirty="0"/>
              <a:t>VGG16 (</a:t>
            </a:r>
            <a:r>
              <a:rPr lang="ko-KR" altLang="en-US" sz="1400" dirty="0"/>
              <a:t>비주얼 지오메트리 그룹 </a:t>
            </a:r>
            <a:r>
              <a:rPr lang="en-US" altLang="ko-KR" sz="1400" dirty="0"/>
              <a:t>16)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- A 16-layer deep CNN designed for object recognition.</a:t>
            </a:r>
          </a:p>
          <a:p>
            <a:pPr marL="0" indent="0">
              <a:buNone/>
            </a:pPr>
            <a:r>
              <a:rPr lang="en-US" sz="1400" dirty="0"/>
              <a:t>- It learns to distinguish basic shapes and combines them to recognize complex objects.</a:t>
            </a:r>
          </a:p>
          <a:p>
            <a:pPr marL="0" indent="0">
              <a:buNone/>
            </a:pPr>
            <a:r>
              <a:rPr lang="en-US" sz="1400" dirty="0"/>
              <a:t>- Pre-trained on ImageNet with substantial knowledge from millions of images.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1F217D-5534-C10E-77CA-9672E8C2D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698" y="4433038"/>
            <a:ext cx="2715940" cy="1283192"/>
          </a:xfrm>
          <a:prstGeom prst="rect">
            <a:avLst/>
          </a:prstGeom>
        </p:spPr>
      </p:pic>
      <p:pic>
        <p:nvPicPr>
          <p:cNvPr id="12" name="Picture 11" descr="VGG-16 CNN model architecture layer wise.">
            <a:extLst>
              <a:ext uri="{FF2B5EF4-FFF2-40B4-BE49-F238E27FC236}">
                <a16:creationId xmlns:a16="http://schemas.microsoft.com/office/drawing/2014/main" id="{CE5BC189-BC8F-08D6-34D8-018A6B689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709" y="4516226"/>
            <a:ext cx="2698423" cy="1200004"/>
          </a:xfrm>
          <a:prstGeom prst="rect">
            <a:avLst/>
          </a:prstGeom>
        </p:spPr>
      </p:pic>
      <p:pic>
        <p:nvPicPr>
          <p:cNvPr id="13" name="Picture 12" descr="-K-Nearest Neighbors (KNN) model">
            <a:extLst>
              <a:ext uri="{FF2B5EF4-FFF2-40B4-BE49-F238E27FC236}">
                <a16:creationId xmlns:a16="http://schemas.microsoft.com/office/drawing/2014/main" id="{B697B6CA-6307-27AD-75C7-F874E128846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912"/>
          <a:stretch>
            <a:fillRect/>
          </a:stretch>
        </p:blipFill>
        <p:spPr>
          <a:xfrm>
            <a:off x="8636444" y="4154687"/>
            <a:ext cx="2688858" cy="190414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79C3086-B669-DDC9-DE28-68A52C3BBFEC}"/>
              </a:ext>
            </a:extLst>
          </p:cNvPr>
          <p:cNvSpPr txBox="1"/>
          <p:nvPr/>
        </p:nvSpPr>
        <p:spPr>
          <a:xfrm>
            <a:off x="3409527" y="4154689"/>
            <a:ext cx="20842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000" i="1" dirty="0"/>
              <a:t>1</a:t>
            </a:r>
            <a:endParaRPr 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C877E8-634B-E9CE-279D-926961923F66}"/>
              </a:ext>
            </a:extLst>
          </p:cNvPr>
          <p:cNvSpPr txBox="1"/>
          <p:nvPr/>
        </p:nvSpPr>
        <p:spPr>
          <a:xfrm>
            <a:off x="7359132" y="4277797"/>
            <a:ext cx="20842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000" i="1" dirty="0"/>
              <a:t>2</a:t>
            </a:r>
            <a:endParaRPr 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708E7D-C7D3-170A-C7E2-C0DECD7BEC84}"/>
              </a:ext>
            </a:extLst>
          </p:cNvPr>
          <p:cNvSpPr txBox="1"/>
          <p:nvPr/>
        </p:nvSpPr>
        <p:spPr>
          <a:xfrm>
            <a:off x="10885673" y="4219407"/>
            <a:ext cx="20842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000" i="1" dirty="0"/>
              <a:t>3</a:t>
            </a:r>
            <a:endParaRPr 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FA139B-56D5-BB3F-831E-A70D377423EE}"/>
              </a:ext>
            </a:extLst>
          </p:cNvPr>
          <p:cNvSpPr txBox="1"/>
          <p:nvPr/>
        </p:nvSpPr>
        <p:spPr>
          <a:xfrm>
            <a:off x="465026" y="5871467"/>
            <a:ext cx="68941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s-419" sz="1200" i="1" dirty="0">
                <a:hlinkClick r:id="rId6"/>
              </a:rPr>
              <a:t>https://medium.com/analytics-vidhya/understanding-logistic-regression-b3c672deac04</a:t>
            </a:r>
            <a:endParaRPr lang="es-419" sz="1200" i="1" dirty="0"/>
          </a:p>
          <a:p>
            <a:pPr marL="228600" indent="-228600">
              <a:buAutoNum type="arabicPeriod"/>
            </a:pPr>
            <a:r>
              <a:rPr lang="en-US" sz="1200" i="1" dirty="0">
                <a:hlinkClick r:id="rId7"/>
              </a:rPr>
              <a:t>https://www.researchgate.net/figure/GG-16-CNN-model-architecture-layer-wise_fig8_346259768</a:t>
            </a:r>
            <a:endParaRPr lang="en-US" sz="1200" i="1" dirty="0"/>
          </a:p>
          <a:p>
            <a:pPr marL="228600" indent="-228600">
              <a:buAutoNum type="arabicPeriod"/>
            </a:pPr>
            <a:r>
              <a:rPr lang="en-US" sz="1200" i="1" dirty="0">
                <a:hlinkClick r:id="rId8"/>
              </a:rPr>
              <a:t>https://www.researchgate.net/figure/K-Nearest-Neighbors-KNN-model_fig4_382849084</a:t>
            </a:r>
            <a:endParaRPr lang="en-US" sz="1200" i="1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FA6A221A-3221-8A89-BF92-E1FEC569BE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275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71EF4-A6DB-7D63-0CDB-67433182A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031E369-8E07-C9A0-550B-3D50B7462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442" y="914399"/>
            <a:ext cx="10872158" cy="5029199"/>
          </a:xfrm>
        </p:spPr>
        <p:txBody>
          <a:bodyPr/>
          <a:lstStyle/>
          <a:p>
            <a:r>
              <a:rPr lang="en-US" dirty="0">
                <a:latin typeface="Source Sans"/>
              </a:rPr>
              <a:t>5. Results</a:t>
            </a:r>
            <a:br>
              <a:rPr lang="en-US" dirty="0">
                <a:latin typeface="Source Sans"/>
              </a:rPr>
            </a:br>
            <a:r>
              <a:rPr lang="en-US" dirty="0">
                <a:latin typeface="Source Sans"/>
              </a:rPr>
              <a:t>	</a:t>
            </a:r>
            <a:r>
              <a:rPr lang="ko-KR" altLang="en-US" dirty="0">
                <a:latin typeface="Source Sans"/>
              </a:rPr>
              <a:t>결과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DA1F94-C684-A1C1-44AD-5D5E222150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558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C8027-1F64-986F-BFCC-F66D3321C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1F1727F8-BE62-66AE-22C1-9C8B3372D6BC}"/>
              </a:ext>
            </a:extLst>
          </p:cNvPr>
          <p:cNvSpPr txBox="1">
            <a:spLocks/>
          </p:cNvSpPr>
          <p:nvPr/>
        </p:nvSpPr>
        <p:spPr>
          <a:xfrm>
            <a:off x="413469" y="364831"/>
            <a:ext cx="6297882" cy="867242"/>
          </a:xfrm>
          <a:prstGeom prst="rect">
            <a:avLst/>
          </a:prstGeom>
        </p:spPr>
        <p:txBody>
          <a:bodyPr vert="horz" lIns="91440" tIns="45720" rIns="91440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Source Sans"/>
              </a:rPr>
              <a:t>Results </a:t>
            </a:r>
            <a:r>
              <a:rPr lang="ko-KR" altLang="en-US" dirty="0">
                <a:latin typeface="Source Sans"/>
              </a:rPr>
              <a:t>결과</a:t>
            </a:r>
            <a:endParaRPr lang="en-US" dirty="0">
              <a:latin typeface="Source Sans"/>
            </a:endParaRP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BE090E27-8669-C664-6F23-6FC25FB39D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2644101"/>
              </p:ext>
            </p:extLst>
          </p:nvPr>
        </p:nvGraphicFramePr>
        <p:xfrm>
          <a:off x="5422789" y="1550504"/>
          <a:ext cx="5838939" cy="3093399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319917">
                  <a:extLst>
                    <a:ext uri="{9D8B030D-6E8A-4147-A177-3AD203B41FA5}">
                      <a16:colId xmlns:a16="http://schemas.microsoft.com/office/drawing/2014/main" val="3446012419"/>
                    </a:ext>
                  </a:extLst>
                </a:gridCol>
                <a:gridCol w="1311965">
                  <a:extLst>
                    <a:ext uri="{9D8B030D-6E8A-4147-A177-3AD203B41FA5}">
                      <a16:colId xmlns:a16="http://schemas.microsoft.com/office/drawing/2014/main" val="1144619157"/>
                    </a:ext>
                  </a:extLst>
                </a:gridCol>
                <a:gridCol w="882595">
                  <a:extLst>
                    <a:ext uri="{9D8B030D-6E8A-4147-A177-3AD203B41FA5}">
                      <a16:colId xmlns:a16="http://schemas.microsoft.com/office/drawing/2014/main" val="4052646397"/>
                    </a:ext>
                  </a:extLst>
                </a:gridCol>
                <a:gridCol w="1204780">
                  <a:extLst>
                    <a:ext uri="{9D8B030D-6E8A-4147-A177-3AD203B41FA5}">
                      <a16:colId xmlns:a16="http://schemas.microsoft.com/office/drawing/2014/main" val="1935352797"/>
                    </a:ext>
                  </a:extLst>
                </a:gridCol>
                <a:gridCol w="1119682">
                  <a:extLst>
                    <a:ext uri="{9D8B030D-6E8A-4147-A177-3AD203B41FA5}">
                      <a16:colId xmlns:a16="http://schemas.microsoft.com/office/drawing/2014/main" val="978803686"/>
                    </a:ext>
                  </a:extLst>
                </a:gridCol>
              </a:tblGrid>
              <a:tr h="6020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Model</a:t>
                      </a:r>
                    </a:p>
                    <a:p>
                      <a:pPr algn="l" fontAlgn="b"/>
                      <a:r>
                        <a:rPr lang="ko-KR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모델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Source Sans"/>
                      </a:endParaRPr>
                    </a:p>
                  </a:txBody>
                  <a:tcPr marL="2880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Precision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정밀도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Source Sans"/>
                      </a:endParaRPr>
                    </a:p>
                  </a:txBody>
                  <a:tcPr marL="2880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Recall</a:t>
                      </a:r>
                      <a:endParaRPr lang="es-419" sz="1800" b="1" i="0" u="none" strike="noStrike" dirty="0">
                        <a:solidFill>
                          <a:schemeClr val="tx1"/>
                        </a:solidFill>
                        <a:effectLst/>
                        <a:latin typeface="Source Sans"/>
                      </a:endParaRPr>
                    </a:p>
                    <a:p>
                      <a:pPr algn="ctr" fontAlgn="b"/>
                      <a:r>
                        <a:rPr lang="ko-KR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재현율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Source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F1-Score</a:t>
                      </a:r>
                    </a:p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F1-</a:t>
                      </a:r>
                      <a:r>
                        <a:rPr lang="ko-KR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점수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Source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419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Accuracy</a:t>
                      </a:r>
                      <a:endParaRPr lang="es-419" sz="1800" b="1" i="0" u="none" strike="noStrike" dirty="0">
                        <a:solidFill>
                          <a:schemeClr val="tx1"/>
                        </a:solidFill>
                        <a:effectLst/>
                        <a:latin typeface="Source Sans"/>
                      </a:endParaRPr>
                    </a:p>
                    <a:p>
                      <a:pPr algn="ctr" fontAlgn="b"/>
                      <a:r>
                        <a:rPr lang="ko-KR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Source Sans"/>
                        </a:rPr>
                        <a:t>정확도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Source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0773105"/>
                  </a:ext>
                </a:extLst>
              </a:tr>
              <a:tr h="8177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dirty="0" err="1"/>
                        <a:t>Logistic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Regression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59.3%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57.6%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dirty="0"/>
                        <a:t>58.4%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dirty="0"/>
                        <a:t>58.5%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2911372"/>
                  </a:ext>
                </a:extLst>
              </a:tr>
              <a:tr h="8177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KNN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dirty="0"/>
                        <a:t>67.5</a:t>
                      </a:r>
                      <a:r>
                        <a:rPr lang="en-US" dirty="0"/>
                        <a:t>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dirty="0"/>
                        <a:t>64.1</a:t>
                      </a:r>
                      <a:r>
                        <a:rPr lang="en-US" dirty="0"/>
                        <a:t>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dirty="0"/>
                        <a:t>65.8%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dirty="0"/>
                        <a:t>65.32%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3393929"/>
                  </a:ext>
                </a:extLst>
              </a:tr>
              <a:tr h="8177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VGG-16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dirty="0"/>
                        <a:t>97.8</a:t>
                      </a:r>
                      <a:r>
                        <a:rPr lang="en-US" dirty="0"/>
                        <a:t>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dirty="0"/>
                        <a:t>96.9</a:t>
                      </a:r>
                      <a:r>
                        <a:rPr lang="en-US" dirty="0"/>
                        <a:t>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dirty="0"/>
                        <a:t>97.3%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dirty="0"/>
                        <a:t>97.5%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71146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ACCBA3-8023-C94D-B01F-7D8A292D2209}"/>
                  </a:ext>
                </a:extLst>
              </p:cNvPr>
              <p:cNvSpPr txBox="1"/>
              <p:nvPr/>
            </p:nvSpPr>
            <p:spPr>
              <a:xfrm>
                <a:off x="930272" y="1550504"/>
                <a:ext cx="2064668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419" b="0" i="1" smtClean="0">
                          <a:latin typeface="Cambria Math" panose="02040503050406030204" pitchFamily="18" charset="0"/>
                        </a:rPr>
                        <m:t>Precision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FP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ACCBA3-8023-C94D-B01F-7D8A292D2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272" y="1550504"/>
                <a:ext cx="2064668" cy="5231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31BC2B-A3AD-1CD4-CC61-8ED7D1213221}"/>
                  </a:ext>
                </a:extLst>
              </p:cNvPr>
              <p:cNvSpPr txBox="1"/>
              <p:nvPr/>
            </p:nvSpPr>
            <p:spPr>
              <a:xfrm>
                <a:off x="930272" y="2392092"/>
                <a:ext cx="1764907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419" b="0" i="1" smtClean="0">
                          <a:latin typeface="Cambria Math" panose="02040503050406030204" pitchFamily="18" charset="0"/>
                        </a:rPr>
                        <m:t>Recall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FN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31BC2B-A3AD-1CD4-CC61-8ED7D1213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272" y="2392092"/>
                <a:ext cx="1764907" cy="5231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C6A3DC-F365-5E35-F276-6806835CA035}"/>
                  </a:ext>
                </a:extLst>
              </p:cNvPr>
              <p:cNvSpPr txBox="1"/>
              <p:nvPr/>
            </p:nvSpPr>
            <p:spPr>
              <a:xfrm>
                <a:off x="930272" y="3233680"/>
                <a:ext cx="3172343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419" b="0" i="1" smtClean="0">
                          <a:latin typeface="Cambria Math" panose="02040503050406030204" pitchFamily="18" charset="0"/>
                        </a:rPr>
                        <m:t>Accuracy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TN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FP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TN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FN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C6A3DC-F365-5E35-F276-6806835CA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272" y="3233680"/>
                <a:ext cx="3172343" cy="5231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A5A7DB-1731-0101-CD23-BCC6DAECB77A}"/>
                  </a:ext>
                </a:extLst>
              </p:cNvPr>
              <p:cNvSpPr txBox="1"/>
              <p:nvPr/>
            </p:nvSpPr>
            <p:spPr>
              <a:xfrm>
                <a:off x="930272" y="4075268"/>
                <a:ext cx="3480120" cy="5305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419" b="0" i="1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s-419" b="0" i="1" smtClean="0">
                          <a:latin typeface="Cambria Math" panose="02040503050406030204" pitchFamily="18" charset="0"/>
                        </a:rPr>
                        <m:t>Score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2 ∗ 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Recall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 ∗ </m:t>
                          </m:r>
                          <m:r>
                            <m:rPr>
                              <m:sty m:val="p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Precision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Recall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m:rPr>
                              <m:sty m:val="p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Precision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A5A7DB-1731-0101-CD23-BCC6DAECB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272" y="4075268"/>
                <a:ext cx="3480120" cy="5305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5910738-E46D-F623-B0D4-54936664F847}"/>
              </a:ext>
            </a:extLst>
          </p:cNvPr>
          <p:cNvSpPr txBox="1"/>
          <p:nvPr/>
        </p:nvSpPr>
        <p:spPr>
          <a:xfrm>
            <a:off x="5422789" y="4752155"/>
            <a:ext cx="4024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i="1" dirty="0"/>
              <a:t>표 </a:t>
            </a:r>
            <a:r>
              <a:rPr lang="en-US" altLang="ko-KR" sz="1600" i="1" dirty="0"/>
              <a:t>3. </a:t>
            </a:r>
            <a:r>
              <a:rPr lang="ko-KR" altLang="en-US" sz="1600" i="1" dirty="0"/>
              <a:t>모델 메트릭 비교</a:t>
            </a:r>
            <a:endParaRPr lang="en-US" sz="1600" i="1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C55FD76-9026-94B4-5140-8DBE352DA4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5993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3959A-7D49-DABD-4B5A-6712ECB88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BAFDABCD-62CB-47C8-FB4A-9F593FF8E607}"/>
              </a:ext>
            </a:extLst>
          </p:cNvPr>
          <p:cNvSpPr txBox="1">
            <a:spLocks/>
          </p:cNvSpPr>
          <p:nvPr/>
        </p:nvSpPr>
        <p:spPr>
          <a:xfrm>
            <a:off x="413469" y="364831"/>
            <a:ext cx="6297882" cy="867242"/>
          </a:xfrm>
          <a:prstGeom prst="rect">
            <a:avLst/>
          </a:prstGeom>
        </p:spPr>
        <p:txBody>
          <a:bodyPr vert="horz" lIns="91440" tIns="45720" rIns="91440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Source Sans"/>
              </a:rPr>
              <a:t>Results </a:t>
            </a:r>
            <a:r>
              <a:rPr lang="ko-KR" altLang="en-US" dirty="0">
                <a:latin typeface="Source Sans"/>
              </a:rPr>
              <a:t>결과</a:t>
            </a:r>
            <a:endParaRPr lang="en-US" dirty="0">
              <a:latin typeface="Source San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0372C9F-CF5D-D03B-7597-5E887DBD39F4}"/>
              </a:ext>
            </a:extLst>
          </p:cNvPr>
          <p:cNvGrpSpPr/>
          <p:nvPr/>
        </p:nvGrpSpPr>
        <p:grpSpPr>
          <a:xfrm>
            <a:off x="834364" y="1656602"/>
            <a:ext cx="4519966" cy="3632778"/>
            <a:chOff x="834364" y="1232073"/>
            <a:chExt cx="4519966" cy="357237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09558A4-3053-8A73-709C-9AC4445041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4364" y="1232073"/>
              <a:ext cx="4519966" cy="325160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6E58C58-4B4C-5335-4B30-3D965489078B}"/>
                </a:ext>
              </a:extLst>
            </p:cNvPr>
            <p:cNvSpPr txBox="1"/>
            <p:nvPr/>
          </p:nvSpPr>
          <p:spPr>
            <a:xfrm>
              <a:off x="1082110" y="4471523"/>
              <a:ext cx="4024474" cy="3329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600" dirty="0"/>
                <a:t>그림 </a:t>
              </a:r>
              <a:r>
                <a:rPr lang="en-US" altLang="ko-KR" sz="1600" dirty="0"/>
                <a:t>4. </a:t>
              </a:r>
              <a:r>
                <a:rPr lang="ko-KR" altLang="en-US" sz="1600" dirty="0"/>
                <a:t>최대 </a:t>
              </a:r>
              <a:r>
                <a:rPr lang="en-US" altLang="ko-KR" sz="1600" dirty="0"/>
                <a:t>20 </a:t>
              </a:r>
              <a:r>
                <a:rPr lang="ko-KR" altLang="en-US" sz="1600" dirty="0"/>
                <a:t>에포크 모델 정확도</a:t>
              </a:r>
              <a:endParaRPr lang="en-US" sz="1600" i="1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FBF5EB3-360E-CDBC-6CE2-3A705BAF85AC}"/>
              </a:ext>
            </a:extLst>
          </p:cNvPr>
          <p:cNvGrpSpPr/>
          <p:nvPr/>
        </p:nvGrpSpPr>
        <p:grpSpPr>
          <a:xfrm>
            <a:off x="6294783" y="1609749"/>
            <a:ext cx="4545336" cy="3638502"/>
            <a:chOff x="6270929" y="1171575"/>
            <a:chExt cx="4545336" cy="363850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30A6513-065D-EDEE-FAEF-F7D647365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70929" y="1171575"/>
              <a:ext cx="4545336" cy="331210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53475BF-663D-174F-F6AE-88616E0C3D5B}"/>
                </a:ext>
              </a:extLst>
            </p:cNvPr>
            <p:cNvSpPr txBox="1"/>
            <p:nvPr/>
          </p:nvSpPr>
          <p:spPr>
            <a:xfrm>
              <a:off x="6531360" y="4471523"/>
              <a:ext cx="402447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600" dirty="0"/>
                <a:t>그림  </a:t>
              </a:r>
              <a:r>
                <a:rPr lang="en-US" altLang="ko-KR" sz="1600" dirty="0"/>
                <a:t>5. </a:t>
              </a:r>
              <a:r>
                <a:rPr lang="ko-KR" altLang="en-US" sz="1600" dirty="0"/>
                <a:t>최대 </a:t>
              </a:r>
              <a:r>
                <a:rPr lang="en-US" altLang="ko-KR" sz="1600" dirty="0"/>
                <a:t>20 </a:t>
              </a:r>
              <a:r>
                <a:rPr lang="ko-KR" altLang="en-US" sz="1600" dirty="0"/>
                <a:t>에포크 모델 손실</a:t>
              </a:r>
              <a:r>
                <a:rPr lang="en-US" sz="1600" i="1" dirty="0"/>
                <a:t>.</a:t>
              </a:r>
            </a:p>
          </p:txBody>
        </p:sp>
      </p:grp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287F8A6-5CD5-599E-9B71-508A60198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235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A9FD6-1E04-46C8-4F2F-11D1AEC47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0D13C7A-4D95-D092-6007-30F7D8195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189" y="914399"/>
            <a:ext cx="10889411" cy="5029199"/>
          </a:xfrm>
        </p:spPr>
        <p:txBody>
          <a:bodyPr/>
          <a:lstStyle/>
          <a:p>
            <a:r>
              <a:rPr lang="en-US" dirty="0">
                <a:latin typeface="Source Sans"/>
              </a:rPr>
              <a:t>6. Conclusion</a:t>
            </a:r>
            <a:br>
              <a:rPr lang="en-US" dirty="0">
                <a:latin typeface="Source Sans"/>
              </a:rPr>
            </a:br>
            <a:r>
              <a:rPr lang="en-US" dirty="0">
                <a:latin typeface="Source Sans"/>
              </a:rPr>
              <a:t>	</a:t>
            </a:r>
            <a:r>
              <a:rPr lang="ko-KR" altLang="en-US" dirty="0"/>
              <a:t> 결론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54EA1E-DDD7-EE4F-889E-C2AA2B7C8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922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A7449-DF9F-3998-C1B5-F9CCDEEDB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A3C64211-C6B8-39DC-899D-E93A3AFEF3C5}"/>
              </a:ext>
            </a:extLst>
          </p:cNvPr>
          <p:cNvSpPr txBox="1">
            <a:spLocks/>
          </p:cNvSpPr>
          <p:nvPr/>
        </p:nvSpPr>
        <p:spPr>
          <a:xfrm>
            <a:off x="914399" y="2027208"/>
            <a:ext cx="10360026" cy="3916392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Source Sans"/>
              </a:rPr>
              <a:t>This study achieved 97.5% accuracy using VGG16, outperforming the baseline by 40%.</a:t>
            </a:r>
          </a:p>
          <a:p>
            <a:pPr algn="just"/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Source Sans"/>
            </a:endParaRPr>
          </a:p>
          <a:p>
            <a:pPr algn="just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Source Sans"/>
              </a:rPr>
              <a:t>Dataset limited to three fruit types and tested only under controlled Kaggle conditions.</a:t>
            </a:r>
          </a:p>
          <a:p>
            <a:pPr algn="just"/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Source Sans"/>
            </a:endParaRPr>
          </a:p>
          <a:p>
            <a:pPr algn="just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Source Sans"/>
              </a:rPr>
              <a:t>Explore domain adaptation, explainable AI techniques, and deployment in real-world industrial systems.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Source Sans"/>
              <a:ea typeface="Source Sans Pro" panose="020B0503030403020204" pitchFamily="34" charset="0"/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C5EC1D92-6DA3-0649-1493-F971A8E49390}"/>
              </a:ext>
            </a:extLst>
          </p:cNvPr>
          <p:cNvSpPr txBox="1">
            <a:spLocks/>
          </p:cNvSpPr>
          <p:nvPr/>
        </p:nvSpPr>
        <p:spPr>
          <a:xfrm>
            <a:off x="413469" y="364831"/>
            <a:ext cx="6297882" cy="8672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Source Sans"/>
              </a:rPr>
              <a:t>Conclusion </a:t>
            </a:r>
            <a:r>
              <a:rPr lang="ko-KR" altLang="en-US" sz="4800" dirty="0"/>
              <a:t>결론</a:t>
            </a:r>
            <a:endParaRPr lang="en-US" sz="4800" dirty="0">
              <a:latin typeface="Source San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DFB4AD-248C-EBCA-47B6-3AE393FC1E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825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961152-381E-D654-15E9-7C4F0960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59" y="655320"/>
            <a:ext cx="6270761" cy="5486400"/>
          </a:xfrm>
        </p:spPr>
        <p:txBody>
          <a:bodyPr>
            <a:normAutofit/>
          </a:bodyPr>
          <a:lstStyle/>
          <a:p>
            <a:r>
              <a:rPr lang="en-US" sz="6600" dirty="0">
                <a:latin typeface="Source Sans"/>
              </a:rPr>
              <a:t>Thank you</a:t>
            </a:r>
            <a:br>
              <a:rPr lang="en-US" sz="6600" dirty="0">
                <a:latin typeface="Source Sans"/>
              </a:rPr>
            </a:br>
            <a:r>
              <a:rPr lang="en-US" sz="6600" dirty="0">
                <a:latin typeface="Source Sans"/>
              </a:rPr>
              <a:t>	</a:t>
            </a:r>
            <a:r>
              <a:rPr lang="ko-KR" altLang="en-US" sz="6600" dirty="0"/>
              <a:t> 감사합니다</a:t>
            </a:r>
            <a:endParaRPr lang="en-US" sz="6600" dirty="0">
              <a:latin typeface="Source Sans"/>
            </a:endParaRPr>
          </a:p>
        </p:txBody>
      </p:sp>
    </p:spTree>
    <p:extLst>
      <p:ext uri="{BB962C8B-B14F-4D97-AF65-F5344CB8AC3E}">
        <p14:creationId xmlns:p14="http://schemas.microsoft.com/office/powerpoint/2010/main" val="330384453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B09D"/>
      </a:accent1>
      <a:accent2>
        <a:srgbClr val="FFD7C7"/>
      </a:accent2>
      <a:accent3>
        <a:srgbClr val="FFE9E0"/>
      </a:accent3>
      <a:accent4>
        <a:srgbClr val="55736D"/>
      </a:accent4>
      <a:accent5>
        <a:srgbClr val="88A88E"/>
      </a:accent5>
      <a:accent6>
        <a:srgbClr val="E6FFFB"/>
      </a:accent6>
      <a:hlink>
        <a:srgbClr val="0563C1"/>
      </a:hlink>
      <a:folHlink>
        <a:srgbClr val="954F72"/>
      </a:folHlink>
    </a:clrScheme>
    <a:fontScheme name="Custom 116">
      <a:majorFont>
        <a:latin typeface="Bodoni MT"/>
        <a:ea typeface=""/>
        <a:cs typeface=""/>
      </a:majorFont>
      <a:minorFont>
        <a:latin typeface="Sourc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6722518_win32_SD_v11" id="{6E195932-91F4-4861-8538-848409B20D97}" vid="{F5C82CE7-F5AC-4E30-975C-FD228ED220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37CDA33-9251-49D0-A51A-7888AA3E063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2E4FA29-61E2-42A6-9537-732ED628B6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F796806-D3A7-49C6-9335-B8A0B9307F8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Light sales pitch presentation</Template>
  <TotalTime>1798</TotalTime>
  <Words>1044</Words>
  <Application>Microsoft Office PowerPoint</Application>
  <PresentationFormat>Widescreen</PresentationFormat>
  <Paragraphs>256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Source Sans</vt:lpstr>
      <vt:lpstr>Arial</vt:lpstr>
      <vt:lpstr>Bodoni MT</vt:lpstr>
      <vt:lpstr>Calibri</vt:lpstr>
      <vt:lpstr>Cambria Math</vt:lpstr>
      <vt:lpstr>Source Sans Pro Light</vt:lpstr>
      <vt:lpstr>Custom</vt:lpstr>
      <vt:lpstr>PowerPoint Presentation</vt:lpstr>
      <vt:lpstr>PowerPoint Presentation</vt:lpstr>
      <vt:lpstr>1. Introduction  서론</vt:lpstr>
      <vt:lpstr>PowerPoint Presentation</vt:lpstr>
      <vt:lpstr>2. Motivation  동기</vt:lpstr>
      <vt:lpstr>PowerPoint Presentation</vt:lpstr>
      <vt:lpstr>3. Problem Statement  문제 정의</vt:lpstr>
      <vt:lpstr>PowerPoint Presentation</vt:lpstr>
      <vt:lpstr>3. Related Work  관련 연구</vt:lpstr>
      <vt:lpstr>PowerPoint Presentation</vt:lpstr>
      <vt:lpstr>4. Methodology  방법론</vt:lpstr>
      <vt:lpstr>PowerPoint Presentation</vt:lpstr>
      <vt:lpstr>PowerPoint Presentation</vt:lpstr>
      <vt:lpstr>Methodology 방법론</vt:lpstr>
      <vt:lpstr>Methodology 방법론</vt:lpstr>
      <vt:lpstr>5. Results  결과</vt:lpstr>
      <vt:lpstr>PowerPoint Presentation</vt:lpstr>
      <vt:lpstr>PowerPoint Presentation</vt:lpstr>
      <vt:lpstr>6. Conclusion   결론</vt:lpstr>
      <vt:lpstr>PowerPoint Presentation</vt:lpstr>
      <vt:lpstr>Thank you   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adan soriano hernandez</dc:creator>
  <cp:lastModifiedBy>jorge adan soriano hernandez</cp:lastModifiedBy>
  <cp:revision>8</cp:revision>
  <dcterms:created xsi:type="dcterms:W3CDTF">2026-05-25T11:17:39Z</dcterms:created>
  <dcterms:modified xsi:type="dcterms:W3CDTF">2026-06-09T04:51:15Z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